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1" r:id="rId7"/>
  </p:sldMasterIdLst>
  <p:notesMasterIdLst>
    <p:notesMasterId r:id="rId61"/>
  </p:notesMasterIdLst>
  <p:sldIdLst>
    <p:sldId id="257" r:id="rId8"/>
    <p:sldId id="423" r:id="rId9"/>
    <p:sldId id="258" r:id="rId10"/>
    <p:sldId id="259" r:id="rId11"/>
    <p:sldId id="261" r:id="rId12"/>
    <p:sldId id="424" r:id="rId13"/>
    <p:sldId id="275" r:id="rId14"/>
    <p:sldId id="276" r:id="rId15"/>
    <p:sldId id="425" r:id="rId16"/>
    <p:sldId id="262" r:id="rId17"/>
    <p:sldId id="264" r:id="rId18"/>
    <p:sldId id="263" r:id="rId19"/>
    <p:sldId id="265" r:id="rId20"/>
    <p:sldId id="420" r:id="rId21"/>
    <p:sldId id="421" r:id="rId22"/>
    <p:sldId id="422" r:id="rId23"/>
    <p:sldId id="326" r:id="rId24"/>
    <p:sldId id="266" r:id="rId25"/>
    <p:sldId id="267" r:id="rId26"/>
    <p:sldId id="325" r:id="rId27"/>
    <p:sldId id="426" r:id="rId28"/>
    <p:sldId id="287" r:id="rId29"/>
    <p:sldId id="288" r:id="rId30"/>
    <p:sldId id="427" r:id="rId31"/>
    <p:sldId id="290" r:id="rId32"/>
    <p:sldId id="292" r:id="rId33"/>
    <p:sldId id="428" r:id="rId34"/>
    <p:sldId id="314" r:id="rId35"/>
    <p:sldId id="269" r:id="rId36"/>
    <p:sldId id="368" r:id="rId37"/>
    <p:sldId id="429" r:id="rId38"/>
    <p:sldId id="430" r:id="rId39"/>
    <p:sldId id="431" r:id="rId40"/>
    <p:sldId id="270" r:id="rId41"/>
    <p:sldId id="432" r:id="rId42"/>
    <p:sldId id="295" r:id="rId43"/>
    <p:sldId id="312" r:id="rId44"/>
    <p:sldId id="271" r:id="rId45"/>
    <p:sldId id="302" r:id="rId46"/>
    <p:sldId id="433" r:id="rId47"/>
    <p:sldId id="434" r:id="rId48"/>
    <p:sldId id="303" r:id="rId49"/>
    <p:sldId id="435" r:id="rId50"/>
    <p:sldId id="436" r:id="rId51"/>
    <p:sldId id="272" r:id="rId52"/>
    <p:sldId id="304" r:id="rId53"/>
    <p:sldId id="437" r:id="rId54"/>
    <p:sldId id="305" r:id="rId55"/>
    <p:sldId id="306" r:id="rId56"/>
    <p:sldId id="310" r:id="rId57"/>
    <p:sldId id="308" r:id="rId58"/>
    <p:sldId id="324" r:id="rId59"/>
    <p:sldId id="260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ADE4"/>
    <a:srgbClr val="0070C0"/>
    <a:srgbClr val="FFC000"/>
    <a:srgbClr val="BD58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4660"/>
  </p:normalViewPr>
  <p:slideViewPr>
    <p:cSldViewPr snapToGrid="0">
      <p:cViewPr>
        <p:scale>
          <a:sx n="60" d="100"/>
          <a:sy n="60" d="100"/>
        </p:scale>
        <p:origin x="9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viewProps" Target="viewProps.xml"/><Relationship Id="rId7" Type="http://schemas.openxmlformats.org/officeDocument/2006/relationships/slideMaster" Target="slideMasters/slide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5E026-386B-48BD-BBC1-4FCFA17C5B4F}" type="datetimeFigureOut">
              <a:rPr lang="en-GB" smtClean="0"/>
              <a:t>12/10/2024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1070E-05E0-428B-AEB3-A080AE69F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12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https://www.cs.usfca.edu/~galles/visualization/StackArray.html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B2BD8-746B-9F48-B7E9-74D6E69A6B1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35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1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1" y="3869636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189" indent="0" algn="ctr">
              <a:buNone/>
              <a:defRPr sz="2200"/>
            </a:lvl2pPr>
            <a:lvl3pPr marL="914377" indent="0" algn="ctr">
              <a:buNone/>
              <a:defRPr sz="2200"/>
            </a:lvl3pPr>
            <a:lvl4pPr marL="1371566" indent="0" algn="ctr">
              <a:buNone/>
              <a:defRPr sz="2000"/>
            </a:lvl4pPr>
            <a:lvl5pPr marL="1828754" indent="0" algn="ctr">
              <a:buNone/>
              <a:defRPr sz="2000"/>
            </a:lvl5pPr>
            <a:lvl6pPr marL="2285943" indent="0" algn="ctr">
              <a:buNone/>
              <a:defRPr sz="2000"/>
            </a:lvl6pPr>
            <a:lvl7pPr marL="2743131" indent="0" algn="ctr">
              <a:buNone/>
              <a:defRPr sz="2000"/>
            </a:lvl7pPr>
            <a:lvl8pPr marL="3200320" indent="0" algn="ctr">
              <a:buNone/>
              <a:defRPr sz="2000"/>
            </a:lvl8pPr>
            <a:lvl9pPr marL="3657509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F17FAFA-ADF3-4137-9ABE-BCA55C3F6DCA}" type="datetime1">
              <a:rPr lang="en-US" smtClean="0"/>
              <a:t>10/12/2024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1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285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86D7-252F-4D02-BADB-BA19BF90D0C0}" type="datetime1">
              <a:rPr lang="en-US" smtClean="0"/>
              <a:t>10/12/2024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85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83CC3-306E-40F0-91EA-79A918DF1A61}" type="datetime1">
              <a:rPr lang="en-US" smtClean="0"/>
              <a:t>10/12/2024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1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266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6BBAC-B75A-41C0-9526-B3DFB2A360F9}" type="datetime1">
              <a:rPr lang="en-US" smtClean="0"/>
              <a:t>10/12/2024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309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DC13D-6228-46AB-826E-66559CEEE006}" type="datetime1">
              <a:rPr lang="en-US" smtClean="0"/>
              <a:t>10/12/2024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43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43B6D-9578-45D2-80F9-D01C2D5EE838}" type="datetime1">
              <a:rPr lang="en-US" smtClean="0"/>
              <a:t>10/12/2024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77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829E1-09CD-41B3-BF97-13522C6C2EAE}" type="datetime1">
              <a:rPr lang="en-US" smtClean="0"/>
              <a:t>10/12/2024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618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8EA7-33EF-4956-86CE-393C7E5C1F71}" type="datetime1">
              <a:rPr lang="en-US" smtClean="0"/>
              <a:t>10/12/2024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43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8225-3126-4EE8-A140-BB05A80DFC79}" type="datetime1">
              <a:rPr lang="en-US" smtClean="0"/>
              <a:t>10/12/2024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019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3AFD-8DBA-4675-BCC2-DFD3E2E3BDFE}" type="datetime1">
              <a:rPr lang="en-US" smtClean="0"/>
              <a:t>10/12/2024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44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1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607EF-7DED-487E-A7FF-5A3867EBB401}" type="datetime1">
              <a:rPr lang="en-US" smtClean="0"/>
              <a:t>10/12/2024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2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1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2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30"/>
            <a:ext cx="2329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56F46B7A-A81C-4A98-A766-67246AB6F00E}" type="datetime1">
              <a:rPr lang="en-US" smtClean="0"/>
              <a:t>10/12/2024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9" y="6223830"/>
            <a:ext cx="4717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2" y="6223830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308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594" indent="-182875" algn="l" defTabSz="914377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189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02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15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28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599960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89995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199945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49993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customXml" Target="../../customXml/item6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halmersgu-data-structure-courses.github.io/OpenDSA/Published/ChalmersGU-DSABook/html/StackArray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miro.medium.com/max/800/1*kkK3EZNOzBsuwkDNvSVR9g.gif" TargetMode="External"/><Relationship Id="rId2" Type="http://schemas.openxmlformats.org/officeDocument/2006/relationships/hyperlink" Target="https://yongdanielliang.github.io/animation/web/Stack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halmersgu-data-structure-courses.github.io/OpenDSA/Published/ChalmersGU-DSABook/html/StackArray.html" TargetMode="External"/><Relationship Id="rId5" Type="http://schemas.openxmlformats.org/officeDocument/2006/relationships/hyperlink" Target="https://visualgo.net/en" TargetMode="External"/><Relationship Id="rId4" Type="http://schemas.openxmlformats.org/officeDocument/2006/relationships/hyperlink" Target="https://www.cs.usfca.edu/~galles/visualization/QueueArray.html" TargetMode="Externa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A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019CA01-FB63-1463-A351-7272594F707B}"/>
              </a:ext>
            </a:extLst>
          </p:cNvPr>
          <p:cNvSpPr/>
          <p:nvPr/>
        </p:nvSpPr>
        <p:spPr>
          <a:xfrm>
            <a:off x="3067289" y="261594"/>
            <a:ext cx="45719" cy="6334812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81393A-8EE0-DE24-AB0A-6A3C6B74621A}"/>
              </a:ext>
            </a:extLst>
          </p:cNvPr>
          <p:cNvSpPr txBox="1"/>
          <p:nvPr/>
        </p:nvSpPr>
        <p:spPr>
          <a:xfrm>
            <a:off x="3252248" y="892956"/>
            <a:ext cx="859940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rgbClr val="1CADE4"/>
              </a:solidFill>
            </a:endParaRPr>
          </a:p>
          <a:p>
            <a:endParaRPr lang="en-US" sz="2800" dirty="0">
              <a:solidFill>
                <a:srgbClr val="1CADE4"/>
              </a:solidFill>
            </a:endParaRPr>
          </a:p>
          <a:p>
            <a:r>
              <a:rPr lang="en-US" sz="6000" dirty="0">
                <a:solidFill>
                  <a:srgbClr val="FF0000"/>
                </a:solidFill>
                <a:latin typeface="Arial Black" panose="020B0A04020102020204" pitchFamily="34" charset="0"/>
              </a:rPr>
              <a:t>INTRODUCTION TO </a:t>
            </a:r>
          </a:p>
          <a:p>
            <a:r>
              <a:rPr lang="en-US" sz="8000" dirty="0">
                <a:solidFill>
                  <a:srgbClr val="1CADE4"/>
                </a:solidFill>
                <a:latin typeface="Arial Black" panose="020B0A04020102020204" pitchFamily="34" charset="0"/>
              </a:rPr>
              <a:t>COLLECTIONS</a:t>
            </a:r>
          </a:p>
          <a:p>
            <a:endParaRPr lang="en-US" sz="2800" dirty="0">
              <a:solidFill>
                <a:srgbClr val="1CADE4"/>
              </a:solidFill>
            </a:endParaRPr>
          </a:p>
          <a:p>
            <a:endParaRPr lang="en-US" sz="2800" dirty="0">
              <a:solidFill>
                <a:srgbClr val="1CADE4"/>
              </a:solidFill>
            </a:endParaRPr>
          </a:p>
          <a:p>
            <a:endParaRPr lang="en-US" sz="2800" dirty="0">
              <a:solidFill>
                <a:srgbClr val="1CADE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C:\Users\t-dantay\Documents\First24\checkcircle1.png">
            <a:extLst>
              <a:ext uri="{FF2B5EF4-FFF2-40B4-BE49-F238E27FC236}">
                <a16:creationId xmlns:a16="http://schemas.microsoft.com/office/drawing/2014/main" id="{4426CD43-F457-C67B-FB09-2C0C6D63A302}"/>
              </a:ext>
            </a:extLst>
          </p:cNvPr>
          <p:cNvPicPr>
            <a:picLocks noChangeAspect="1" noChangeArrowheads="1"/>
          </p:cNvPicPr>
          <p:nvPr>
            <p:custDataLst>
              <p:custData r:id="rId1"/>
            </p:custDataLst>
          </p:nvPr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739" y="294747"/>
            <a:ext cx="474915" cy="4749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66CBA1D-C4C5-D94F-800D-4FD2245B2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 err="1"/>
              <a:t>shuuriye</a:t>
            </a:r>
            <a:r>
              <a:rPr lang="en-US" dirty="0"/>
              <a:t> </a:t>
            </a:r>
            <a:r>
              <a:rPr lang="en-US" dirty="0" err="1"/>
              <a:t>jr</a:t>
            </a:r>
            <a:r>
              <a:rPr lang="en-US" dirty="0"/>
              <a:t> @ 2023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76FD260-8F33-D87B-8829-4ACC6A6E4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1F1495-7514-D475-9CBC-9DA913BC0F6C}"/>
              </a:ext>
            </a:extLst>
          </p:cNvPr>
          <p:cNvSpPr txBox="1"/>
          <p:nvPr/>
        </p:nvSpPr>
        <p:spPr>
          <a:xfrm>
            <a:off x="7755478" y="4516765"/>
            <a:ext cx="36212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2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Stack</a:t>
            </a:r>
            <a:endParaRPr lang="en-GB" sz="7200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8" name="Picture 7" descr="JSS2 4e cover -Mediu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06" y="1822955"/>
            <a:ext cx="2602198" cy="32120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403EFE-C78D-D0DF-CC99-FB55B5D18E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0090" y="1420670"/>
            <a:ext cx="511318" cy="28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2116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18038"/>
          </a:xfrm>
        </p:spPr>
        <p:txBody>
          <a:bodyPr/>
          <a:lstStyle/>
          <a:p>
            <a:r>
              <a:rPr lang="en-US" b="1" dirty="0"/>
              <a:t>Chapter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2" y="1427119"/>
            <a:ext cx="9872871" cy="466888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Collection terminology</a:t>
            </a:r>
          </a:p>
          <a:p>
            <a:r>
              <a:rPr lang="en-US" sz="2800" dirty="0">
                <a:solidFill>
                  <a:schemeClr val="tx1"/>
                </a:solidFill>
              </a:rPr>
              <a:t>The Java Collections API</a:t>
            </a:r>
          </a:p>
          <a:p>
            <a:r>
              <a:rPr lang="en-US" sz="2800" dirty="0">
                <a:solidFill>
                  <a:schemeClr val="tx1"/>
                </a:solidFill>
              </a:rPr>
              <a:t>Abstract nature of collections</a:t>
            </a:r>
          </a:p>
          <a:p>
            <a:r>
              <a:rPr lang="en-US" sz="2800" dirty="0">
                <a:solidFill>
                  <a:schemeClr val="tx1"/>
                </a:solidFill>
              </a:rPr>
              <a:t>Stacks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Conceptually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Used to solve problems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Implementation using arrays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3 - </a:t>
            </a:r>
            <a:fld id="{90994C07-E970-A243-9601-A1D642E986E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Java Software Structures, 4th Edition, Lewis/Chase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5E8FF-90D2-2B5B-FD05-A8ADF97A1F27}"/>
              </a:ext>
            </a:extLst>
          </p:cNvPr>
          <p:cNvSpPr txBox="1"/>
          <p:nvPr/>
        </p:nvSpPr>
        <p:spPr>
          <a:xfrm>
            <a:off x="2434284" y="5847350"/>
            <a:ext cx="82337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hlinkClick r:id="rId2"/>
              </a:rPr>
              <a:t>4.9. Dynamic Array-Based Stacks — Data Structures and Algorithms (chalmersgu-data-structure-courses.github.io)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4973E-8B15-8CF9-C35E-AD6B69E28A56}"/>
              </a:ext>
            </a:extLst>
          </p:cNvPr>
          <p:cNvSpPr txBox="1"/>
          <p:nvPr/>
        </p:nvSpPr>
        <p:spPr>
          <a:xfrm>
            <a:off x="5085529" y="5604244"/>
            <a:ext cx="372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 this link:</a:t>
            </a: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E5E6D-59B8-9D03-9B5E-4D274E41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CADE4"/>
                </a:solidFill>
              </a:rPr>
              <a:t>Collection</a:t>
            </a:r>
            <a:endParaRPr lang="en-GB" b="1" dirty="0">
              <a:solidFill>
                <a:srgbClr val="1CADE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D26F6-368F-5300-85B7-B68D390DD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2" y="1965960"/>
            <a:ext cx="10536808" cy="413004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/>
              <a:t>A </a:t>
            </a:r>
            <a:r>
              <a:rPr lang="en-US" sz="3200" b="1" i="1" dirty="0">
                <a:solidFill>
                  <a:srgbClr val="FF0000"/>
                </a:solidFill>
              </a:rPr>
              <a:t>collection</a:t>
            </a:r>
            <a:r>
              <a:rPr lang="en-US" sz="3200" i="1" dirty="0"/>
              <a:t> </a:t>
            </a:r>
            <a:r>
              <a:rPr lang="en-US" sz="3200" dirty="0"/>
              <a:t>is an object that holds and organizes other objects.</a:t>
            </a:r>
          </a:p>
          <a:p>
            <a:r>
              <a:rPr lang="en-US" sz="3200" dirty="0"/>
              <a:t>It provides operations for accessing and managing its </a:t>
            </a:r>
            <a:r>
              <a:rPr lang="en-US" sz="3200" b="1" i="1" dirty="0">
                <a:solidFill>
                  <a:srgbClr val="FF0000"/>
                </a:solidFill>
              </a:rPr>
              <a:t>elements</a:t>
            </a:r>
            <a:r>
              <a:rPr lang="en-US" sz="3200" i="1" dirty="0">
                <a:solidFill>
                  <a:srgbClr val="FF0000"/>
                </a:solidFill>
              </a:rPr>
              <a:t>.</a:t>
            </a:r>
          </a:p>
          <a:p>
            <a:r>
              <a:rPr lang="en-US" sz="3200" dirty="0"/>
              <a:t>Many standard collections have been defined over time.</a:t>
            </a:r>
          </a:p>
          <a:p>
            <a:r>
              <a:rPr lang="en-US" sz="3200" dirty="0"/>
              <a:t>Some collections are </a:t>
            </a:r>
            <a:r>
              <a:rPr lang="en-US" sz="3200" b="1" i="1" dirty="0">
                <a:solidFill>
                  <a:srgbClr val="FF0000"/>
                </a:solidFill>
              </a:rPr>
              <a:t>linear</a:t>
            </a:r>
            <a:r>
              <a:rPr lang="en-US" sz="3200" i="1" dirty="0"/>
              <a:t> </a:t>
            </a:r>
            <a:r>
              <a:rPr lang="en-US" sz="3200" dirty="0"/>
              <a:t>in nature, others are </a:t>
            </a:r>
            <a:r>
              <a:rPr lang="en-US" sz="3200" b="1" i="1" dirty="0">
                <a:solidFill>
                  <a:srgbClr val="FF0000"/>
                </a:solidFill>
              </a:rPr>
              <a:t>non-linear</a:t>
            </a:r>
            <a:r>
              <a:rPr lang="en-US" sz="3200" i="1" dirty="0">
                <a:solidFill>
                  <a:srgbClr val="FF0000"/>
                </a:solidFill>
              </a:rPr>
              <a:t>.</a:t>
            </a:r>
          </a:p>
          <a:p>
            <a:endParaRPr lang="en-GB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9013A-179D-EA29-23BA-C84851FC0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30B4B-B3C7-9AA7-E80F-9132E2896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292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C19A7-3C28-3F6A-C6CD-7C659F97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Linear and Non-Linear Collections</a:t>
            </a:r>
            <a:endParaRPr lang="en-GB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FC6644-C72F-C33D-5747-335A2BF01B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0484" y="1824541"/>
            <a:ext cx="7220552" cy="4423860"/>
          </a:xfrm>
          <a:prstGeom prst="rect">
            <a:avLst/>
          </a:prstGeom>
          <a:ln w="1905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7306F-95BD-6140-9062-FE6E34CA6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CA5D5-A7FB-F4EF-FCDE-47AA8BF2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565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9DEC24-3908-DB02-23C0-75B425562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86" y="333143"/>
            <a:ext cx="7211431" cy="6154009"/>
          </a:xfrm>
          <a:prstGeom prst="rect">
            <a:avLst/>
          </a:prstGeom>
          <a:ln w="1905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0A25C-D9D4-D11C-76C5-1C1271EF2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188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and Non-Linear Collections</a:t>
            </a:r>
          </a:p>
        </p:txBody>
      </p:sp>
      <p:pic>
        <p:nvPicPr>
          <p:cNvPr id="6" name="Content Placeholder 5" descr="Fig12.1.jpeg"/>
          <p:cNvPicPr>
            <a:picLocks noGrp="1" noChangeAspect="1"/>
          </p:cNvPicPr>
          <p:nvPr>
            <p:ph idx="1"/>
          </p:nvPr>
        </p:nvPicPr>
        <p:blipFill>
          <a:blip r:embed="rId2"/>
          <a:srcRect l="-51" r="-51"/>
          <a:stretch>
            <a:fillRect/>
          </a:stretch>
        </p:blipFill>
        <p:spPr>
          <a:xfrm>
            <a:off x="7971343" y="3106352"/>
            <a:ext cx="3557506" cy="2087881"/>
          </a:xfr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7A8E06-F138-415D-85AD-141EA70ED137}"/>
              </a:ext>
            </a:extLst>
          </p:cNvPr>
          <p:cNvSpPr txBox="1"/>
          <p:nvPr/>
        </p:nvSpPr>
        <p:spPr>
          <a:xfrm>
            <a:off x="1143001" y="1810310"/>
            <a:ext cx="65090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The organization of the elements in a collection is usually determined by: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The order in which they were added to the collection.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Some inherent relationship among the elements themselves.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An </a:t>
            </a:r>
            <a:r>
              <a:rPr lang="en-US" sz="3200" i="1" dirty="0">
                <a:solidFill>
                  <a:srgbClr val="FF0000"/>
                </a:solidFill>
              </a:rPr>
              <a:t>abstraction</a:t>
            </a:r>
            <a:r>
              <a:rPr lang="en-US" sz="3200" i="1" dirty="0">
                <a:solidFill>
                  <a:schemeClr val="tx1"/>
                </a:solidFill>
              </a:rPr>
              <a:t> </a:t>
            </a:r>
            <a:r>
              <a:rPr lang="en-US" sz="3200" dirty="0">
                <a:solidFill>
                  <a:schemeClr val="tx1"/>
                </a:solidFill>
              </a:rPr>
              <a:t>hides details to make a concept easier to manage.</a:t>
            </a:r>
          </a:p>
          <a:p>
            <a:r>
              <a:rPr lang="en-US" sz="3200" dirty="0">
                <a:solidFill>
                  <a:schemeClr val="tx1"/>
                </a:solidFill>
              </a:rPr>
              <a:t>All objects are abstractions in that they provide well-defined operations (the </a:t>
            </a:r>
            <a:r>
              <a:rPr lang="en-US" sz="3200" i="1" dirty="0">
                <a:solidFill>
                  <a:srgbClr val="FF0000"/>
                </a:solidFill>
              </a:rPr>
              <a:t>interface</a:t>
            </a:r>
            <a:r>
              <a:rPr lang="en-US" sz="3200" dirty="0">
                <a:solidFill>
                  <a:schemeClr val="tx1"/>
                </a:solidFill>
              </a:rPr>
              <a:t>).</a:t>
            </a:r>
          </a:p>
          <a:p>
            <a:r>
              <a:rPr lang="en-US" sz="3200" dirty="0">
                <a:solidFill>
                  <a:schemeClr val="tx1"/>
                </a:solidFill>
              </a:rPr>
              <a:t>They hide (</a:t>
            </a:r>
            <a:r>
              <a:rPr lang="en-US" sz="3200" i="1" dirty="0">
                <a:solidFill>
                  <a:srgbClr val="FF0000"/>
                </a:solidFill>
              </a:rPr>
              <a:t>encapsulate</a:t>
            </a:r>
            <a:r>
              <a:rPr lang="en-US" sz="3200" dirty="0">
                <a:solidFill>
                  <a:schemeClr val="tx1"/>
                </a:solidFill>
              </a:rPr>
              <a:t>) the object's data and the implementation of the operations.</a:t>
            </a:r>
          </a:p>
          <a:p>
            <a:r>
              <a:rPr lang="en-US" sz="3200" dirty="0">
                <a:solidFill>
                  <a:schemeClr val="tx1"/>
                </a:solidFill>
              </a:rPr>
              <a:t>An object is a great mechanism for implementing a collection.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A </a:t>
            </a:r>
            <a:r>
              <a:rPr lang="en-US" sz="3200" i="1" dirty="0">
                <a:solidFill>
                  <a:srgbClr val="FF0000"/>
                </a:solidFill>
              </a:rPr>
              <a:t>data type </a:t>
            </a:r>
            <a:r>
              <a:rPr lang="en-US" sz="3200" dirty="0">
                <a:solidFill>
                  <a:schemeClr val="tx1"/>
                </a:solidFill>
              </a:rPr>
              <a:t>is a group of values and the operations defined on those values (</a:t>
            </a:r>
            <a:r>
              <a:rPr lang="en-US" sz="3200" dirty="0">
                <a:solidFill>
                  <a:srgbClr val="FF0000"/>
                </a:solidFill>
              </a:rPr>
              <a:t>e.g.: int</a:t>
            </a:r>
            <a:r>
              <a:rPr lang="en-US" sz="3200" dirty="0">
                <a:solidFill>
                  <a:schemeClr val="tx1"/>
                </a:solidFill>
              </a:rPr>
              <a:t>).</a:t>
            </a:r>
          </a:p>
          <a:p>
            <a:r>
              <a:rPr lang="en-US" sz="3200" dirty="0">
                <a:solidFill>
                  <a:schemeClr val="tx1"/>
                </a:solidFill>
              </a:rPr>
              <a:t>An </a:t>
            </a:r>
            <a:r>
              <a:rPr lang="en-US" sz="3200" i="1" dirty="0">
                <a:solidFill>
                  <a:srgbClr val="FF0000"/>
                </a:solidFill>
              </a:rPr>
              <a:t>abstract data type </a:t>
            </a:r>
            <a:r>
              <a:rPr lang="en-US" sz="3200" dirty="0">
                <a:solidFill>
                  <a:schemeClr val="tx1"/>
                </a:solidFill>
              </a:rPr>
              <a:t>(ADT) is a data type that </a:t>
            </a:r>
            <a:r>
              <a:rPr lang="en-US" sz="3200" dirty="0">
                <a:solidFill>
                  <a:srgbClr val="FF0000"/>
                </a:solidFill>
              </a:rPr>
              <a:t>isn't pre-defined</a:t>
            </a:r>
            <a:r>
              <a:rPr lang="en-US" sz="3200" dirty="0">
                <a:solidFill>
                  <a:schemeClr val="tx1"/>
                </a:solidFill>
              </a:rPr>
              <a:t> in the programming language.</a:t>
            </a:r>
          </a:p>
          <a:p>
            <a:r>
              <a:rPr lang="en-US" sz="3200" dirty="0">
                <a:solidFill>
                  <a:schemeClr val="tx1"/>
                </a:solidFill>
              </a:rPr>
              <a:t>A </a:t>
            </a:r>
            <a:r>
              <a:rPr lang="en-US" sz="3200" i="1" dirty="0">
                <a:solidFill>
                  <a:srgbClr val="FF0000"/>
                </a:solidFill>
              </a:rPr>
              <a:t>data structure </a:t>
            </a:r>
            <a:r>
              <a:rPr lang="en-US" sz="3200" dirty="0">
                <a:solidFill>
                  <a:schemeClr val="tx1"/>
                </a:solidFill>
              </a:rPr>
              <a:t>is the set of programming constructs and techniques used to implement a collection.</a:t>
            </a:r>
          </a:p>
          <a:p>
            <a:r>
              <a:rPr lang="en-US" sz="3200" dirty="0">
                <a:solidFill>
                  <a:schemeClr val="tx1"/>
                </a:solidFill>
              </a:rPr>
              <a:t>The distinction between the terms ADT, data structure, and collection is sometimes blurred in casual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Collection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2" y="2057400"/>
            <a:ext cx="5165034" cy="40386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A class that uses a collection interacts with it through a particular interface.</a:t>
            </a:r>
          </a:p>
        </p:txBody>
      </p:sp>
      <p:pic>
        <p:nvPicPr>
          <p:cNvPr id="7" name="Picture 6" descr="Fig12.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036" y="1790276"/>
            <a:ext cx="5514780" cy="3277448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3E5A-94A4-4D8B-D97F-FEABC3D1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Java Collections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3956E-774B-9B96-ED3D-62CC5F149DD6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sz="3600" dirty="0"/>
              <a:t>As you know, the various classes provided with Java are referred to as the Java API (application programmer interface).</a:t>
            </a:r>
          </a:p>
          <a:p>
            <a:r>
              <a:rPr lang="en-US" sz="3600" dirty="0"/>
              <a:t>The subset of those classes that support collections is called the </a:t>
            </a:r>
            <a:r>
              <a:rPr lang="en-US" sz="3600" i="1" dirty="0">
                <a:solidFill>
                  <a:srgbClr val="FF0000"/>
                </a:solidFill>
              </a:rPr>
              <a:t>Java Collections </a:t>
            </a:r>
            <a:r>
              <a:rPr lang="en-US" sz="3600" i="1" dirty="0"/>
              <a:t>API.</a:t>
            </a:r>
          </a:p>
          <a:p>
            <a:r>
              <a:rPr lang="en-GB" sz="3600" dirty="0"/>
              <a:t>As we explore a particular collection, we will also examine any support provided in the Collections API for that collection.</a:t>
            </a:r>
          </a:p>
          <a:p>
            <a:endParaRPr lang="en-US" sz="3600" i="1" dirty="0"/>
          </a:p>
          <a:p>
            <a:endParaRPr lang="en-GB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22F432-624F-7AE5-6239-CDA30EC5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AAF27-C392-EABA-5193-B0C32C008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092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0A0BF-8980-34EA-282C-C715A17829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Stacks</a:t>
            </a:r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1BB4B44-0208-CF13-89B3-1DDC3DB5A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AD4E21E-039B-61A8-B4AF-08DA76F0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C0AA3-E42F-8EEC-C510-60179CCC6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335" y="3808457"/>
            <a:ext cx="8096251" cy="24288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A24C00-0790-7435-1F15-C2084B78C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942" y="394427"/>
            <a:ext cx="777967" cy="65194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83697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43C0-CD84-17FA-8DC3-3069F26F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76096-A0E7-A38A-B56E-A2F6A6A4B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2" y="1714500"/>
            <a:ext cx="9872871" cy="43815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en-US" sz="3600" dirty="0"/>
              <a:t>A </a:t>
            </a:r>
            <a:r>
              <a:rPr lang="en-US" sz="3600" i="1" dirty="0">
                <a:solidFill>
                  <a:srgbClr val="FF0000"/>
                </a:solidFill>
              </a:rPr>
              <a:t>stack</a:t>
            </a:r>
            <a:r>
              <a:rPr lang="en-US" sz="3600" i="1" dirty="0"/>
              <a:t> </a:t>
            </a:r>
            <a:r>
              <a:rPr lang="en-US" sz="3600" dirty="0"/>
              <a:t>is a classic collection used to help solve many types of problems.</a:t>
            </a:r>
          </a:p>
          <a:p>
            <a:r>
              <a:rPr lang="en-US" sz="3600" dirty="0"/>
              <a:t>A stack is a linear collection whose elements are added in a </a:t>
            </a:r>
            <a:r>
              <a:rPr lang="en-US" sz="3600" i="1" dirty="0"/>
              <a:t>last in, first out </a:t>
            </a:r>
            <a:r>
              <a:rPr lang="en-US" sz="3600" dirty="0"/>
              <a:t>(</a:t>
            </a:r>
            <a:r>
              <a:rPr lang="en-US" sz="3600" dirty="0">
                <a:solidFill>
                  <a:srgbClr val="FF0000"/>
                </a:solidFill>
              </a:rPr>
              <a:t>LIFO</a:t>
            </a:r>
            <a:r>
              <a:rPr lang="en-US" sz="3600" dirty="0"/>
              <a:t>) manner.</a:t>
            </a:r>
          </a:p>
          <a:p>
            <a:r>
              <a:rPr lang="en-US" sz="3600" dirty="0"/>
              <a:t>That is, the last element to be put on a stack is the first one to be removed.</a:t>
            </a:r>
          </a:p>
          <a:p>
            <a:r>
              <a:rPr lang="en-US" sz="3600" dirty="0"/>
              <a:t>Think of a stack of </a:t>
            </a:r>
            <a:r>
              <a:rPr lang="en-US" sz="3600" dirty="0">
                <a:solidFill>
                  <a:srgbClr val="FF0000"/>
                </a:solidFill>
              </a:rPr>
              <a:t>books</a:t>
            </a:r>
            <a:r>
              <a:rPr lang="en-US" sz="3600" dirty="0"/>
              <a:t>, where you add and remove from the top, but can't reach into the middle.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B9A80D-90E5-0857-B95F-71E9F1822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D9CCD-71B9-6C40-C111-C5F3D6FB1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063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31EA-0B8C-3F40-4318-8EF56E35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Stacks Applications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ADFD4-33B8-01C2-0226-73C6FC108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2" y="1863969"/>
            <a:ext cx="9872871" cy="423203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600" dirty="0"/>
              <a:t>Reverse the order of something: </a:t>
            </a:r>
            <a:r>
              <a:rPr lang="en-US" sz="3600" dirty="0">
                <a:solidFill>
                  <a:srgbClr val="FF0000"/>
                </a:solidFill>
              </a:rPr>
              <a:t>undo operation</a:t>
            </a:r>
          </a:p>
          <a:p>
            <a:r>
              <a:rPr lang="en-US" sz="3600" dirty="0">
                <a:solidFill>
                  <a:srgbClr val="FF0000"/>
                </a:solidFill>
              </a:rPr>
              <a:t>Function calls </a:t>
            </a:r>
            <a:r>
              <a:rPr lang="en-US" sz="3600" dirty="0"/>
              <a:t>Tracing.</a:t>
            </a:r>
          </a:p>
          <a:p>
            <a:r>
              <a:rPr lang="en-US" sz="3600" dirty="0"/>
              <a:t>Compiler </a:t>
            </a:r>
            <a:r>
              <a:rPr lang="en-US" sz="3600" dirty="0">
                <a:solidFill>
                  <a:srgbClr val="FF0000"/>
                </a:solidFill>
              </a:rPr>
              <a:t>syntax checking </a:t>
            </a:r>
            <a:r>
              <a:rPr lang="en-US" sz="3600" dirty="0"/>
              <a:t>({})</a:t>
            </a:r>
          </a:p>
          <a:p>
            <a:r>
              <a:rPr lang="en-US" altLang="en-US" sz="3600" dirty="0"/>
              <a:t>Keeping </a:t>
            </a:r>
            <a:r>
              <a:rPr lang="en-US" altLang="en-US" sz="3600" dirty="0">
                <a:solidFill>
                  <a:srgbClr val="FF0000"/>
                </a:solidFill>
              </a:rPr>
              <a:t>history</a:t>
            </a:r>
            <a:r>
              <a:rPr lang="en-US" altLang="en-US" sz="3600" dirty="0"/>
              <a:t> of visited sites (navigation).</a:t>
            </a:r>
          </a:p>
          <a:p>
            <a:r>
              <a:rPr lang="en-US" sz="3600" dirty="0">
                <a:solidFill>
                  <a:srgbClr val="FF0000"/>
                </a:solidFill>
              </a:rPr>
              <a:t>HTML Tags</a:t>
            </a:r>
            <a:r>
              <a:rPr lang="en-US" sz="3600" dirty="0"/>
              <a:t> matching .</a:t>
            </a:r>
          </a:p>
          <a:p>
            <a:pPr marL="45719" indent="0">
              <a:buNone/>
            </a:pPr>
            <a:endParaRPr lang="en-GB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03FB1-0712-CD2C-31BA-13B1BBA9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76D6D-B1B8-4B88-D36C-AC2B215BD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03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833455-9B28-4F6C-3242-2BE258FF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3015CC-05A9-5C93-3A6D-BFA27D0A5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60327-6B66-855C-5E23-BF5CA13DFCF9}"/>
              </a:ext>
            </a:extLst>
          </p:cNvPr>
          <p:cNvSpPr txBox="1"/>
          <p:nvPr/>
        </p:nvSpPr>
        <p:spPr>
          <a:xfrm>
            <a:off x="2572496" y="316180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HTML Tags</a:t>
            </a:r>
            <a:r>
              <a:rPr lang="en-US" sz="2800" b="1" dirty="0"/>
              <a:t> matching 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C3E07A-A5E1-9EAF-6D75-7D565B79D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900" y="903629"/>
            <a:ext cx="7166199" cy="532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22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833455-9B28-4F6C-3242-2BE258FF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3015CC-05A9-5C93-3A6D-BFA27D0A5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5863DB-6C04-2E77-F380-A0C491D4463B}"/>
              </a:ext>
            </a:extLst>
          </p:cNvPr>
          <p:cNvSpPr txBox="1"/>
          <p:nvPr/>
        </p:nvSpPr>
        <p:spPr>
          <a:xfrm>
            <a:off x="432106" y="474014"/>
            <a:ext cx="81579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b="1" dirty="0"/>
              <a:t>Keeping </a:t>
            </a:r>
            <a:r>
              <a:rPr lang="en-US" altLang="en-US" sz="2800" b="1" dirty="0">
                <a:solidFill>
                  <a:srgbClr val="FF0000"/>
                </a:solidFill>
              </a:rPr>
              <a:t>history</a:t>
            </a:r>
            <a:r>
              <a:rPr lang="en-US" altLang="en-US" sz="2800" b="1" dirty="0"/>
              <a:t> of visited sites (navigation).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023281-5C55-09E9-A3BC-4CB46D347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06" y="1277697"/>
            <a:ext cx="11327788" cy="411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85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833455-9B28-4F6C-3242-2BE258FF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3015CC-05A9-5C93-3A6D-BFA27D0A5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44FD74-1BD1-264D-2E2B-EB385EFD0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6988" y="998004"/>
            <a:ext cx="10998024" cy="51306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471254-4063-F1E6-2E90-B6AB91ABDA78}"/>
              </a:ext>
            </a:extLst>
          </p:cNvPr>
          <p:cNvSpPr txBox="1"/>
          <p:nvPr/>
        </p:nvSpPr>
        <p:spPr>
          <a:xfrm>
            <a:off x="596988" y="379594"/>
            <a:ext cx="67270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Function calls </a:t>
            </a:r>
            <a:r>
              <a:rPr lang="en-US" sz="2800" b="1" dirty="0"/>
              <a:t>Tracing.</a:t>
            </a:r>
          </a:p>
        </p:txBody>
      </p:sp>
    </p:spTree>
    <p:extLst>
      <p:ext uri="{BB962C8B-B14F-4D97-AF65-F5344CB8AC3E}">
        <p14:creationId xmlns:p14="http://schemas.microsoft.com/office/powerpoint/2010/main" val="3351564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Multidocument 10">
            <a:extLst>
              <a:ext uri="{FF2B5EF4-FFF2-40B4-BE49-F238E27FC236}">
                <a16:creationId xmlns:a16="http://schemas.microsoft.com/office/drawing/2014/main" id="{541ECFE9-391D-3138-2127-D6241C9FE76B}"/>
              </a:ext>
            </a:extLst>
          </p:cNvPr>
          <p:cNvSpPr/>
          <p:nvPr/>
        </p:nvSpPr>
        <p:spPr>
          <a:xfrm>
            <a:off x="860980" y="1988820"/>
            <a:ext cx="4534293" cy="2880360"/>
          </a:xfrm>
          <a:prstGeom prst="flowChartMultidocumen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C4E13-1EEE-092D-1EF3-6C812F460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221" y="2526384"/>
            <a:ext cx="3931920" cy="1199796"/>
          </a:xfrm>
        </p:spPr>
        <p:txBody>
          <a:bodyPr/>
          <a:lstStyle/>
          <a:p>
            <a:r>
              <a:rPr lang="en-US" sz="4400" b="1" dirty="0"/>
              <a:t>Stacks Applications</a:t>
            </a:r>
            <a:endParaRPr lang="en-GB" sz="44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05870-A1DF-55E8-4CF1-47A767773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0221" y="3726180"/>
            <a:ext cx="3931920" cy="992860"/>
          </a:xfrm>
        </p:spPr>
        <p:txBody>
          <a:bodyPr>
            <a:normAutofit/>
          </a:bodyPr>
          <a:lstStyle/>
          <a:p>
            <a:r>
              <a:rPr lang="en-US" sz="4400" dirty="0"/>
              <a:t>In Real Life</a:t>
            </a:r>
            <a:endParaRPr lang="en-GB" sz="4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0634D-A613-4A36-FB32-555D3F6AD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F8488-834D-9942-926B-782BD121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17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11ABDE-82E4-BFCA-F9DA-29D53A67A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382" y="269045"/>
            <a:ext cx="5778631" cy="625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845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acks Stack Abstract Data Type (ADT) Stack ADT Interface - ppt download">
            <a:extLst>
              <a:ext uri="{FF2B5EF4-FFF2-40B4-BE49-F238E27FC236}">
                <a16:creationId xmlns:a16="http://schemas.microsoft.com/office/drawing/2014/main" id="{A0F38D80-E47D-9F5F-21EC-5ADB17115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071" y="291054"/>
            <a:ext cx="8367859" cy="6275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E4A9B07-95B7-C71E-4B50-6293E0FC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7B299D1-80E9-94D7-F296-CB0146F9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32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503B-DBD6-2F0F-CF66-A098D72CC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Stack Operations</a:t>
            </a:r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1179E440-D82F-6020-36D5-439B8C2FAC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7208883"/>
              </p:ext>
            </p:extLst>
          </p:nvPr>
        </p:nvGraphicFramePr>
        <p:xfrm>
          <a:off x="1143000" y="1782452"/>
          <a:ext cx="10093750" cy="429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161">
                  <a:extLst>
                    <a:ext uri="{9D8B030D-6E8A-4147-A177-3AD203B41FA5}">
                      <a16:colId xmlns:a16="http://schemas.microsoft.com/office/drawing/2014/main" val="1311655562"/>
                    </a:ext>
                  </a:extLst>
                </a:gridCol>
                <a:gridCol w="8153589">
                  <a:extLst>
                    <a:ext uri="{9D8B030D-6E8A-4147-A177-3AD203B41FA5}">
                      <a16:colId xmlns:a16="http://schemas.microsoft.com/office/drawing/2014/main" val="479813040"/>
                    </a:ext>
                  </a:extLst>
                </a:gridCol>
              </a:tblGrid>
              <a:tr h="525339">
                <a:tc>
                  <a:txBody>
                    <a:bodyPr/>
                    <a:lstStyle/>
                    <a:p>
                      <a:r>
                        <a:rPr lang="en-US" sz="2800" b="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Operation</a:t>
                      </a:r>
                      <a:endParaRPr lang="en-GB" sz="2800" b="0" cap="none" spc="0" dirty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Description</a:t>
                      </a:r>
                      <a:endParaRPr lang="en-GB" sz="2800" b="0" cap="none" spc="0" dirty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424614"/>
                  </a:ext>
                </a:extLst>
              </a:tr>
              <a:tr h="525339">
                <a:tc>
                  <a:txBody>
                    <a:bodyPr/>
                    <a:lstStyle/>
                    <a:p>
                      <a:r>
                        <a:rPr lang="en-US" sz="2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Push()</a:t>
                      </a:r>
                      <a:endParaRPr lang="en-GB" sz="2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Adds an element to the top of the stack.</a:t>
                      </a:r>
                      <a:endParaRPr lang="en-GB" sz="2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062950"/>
                  </a:ext>
                </a:extLst>
              </a:tr>
              <a:tr h="906751">
                <a:tc>
                  <a:txBody>
                    <a:bodyPr/>
                    <a:lstStyle/>
                    <a:p>
                      <a:r>
                        <a:rPr lang="en-US" sz="2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Pop()</a:t>
                      </a:r>
                      <a:endParaRPr lang="en-GB" sz="2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Removes an element from the top pf the stack.</a:t>
                      </a:r>
                      <a:endParaRPr lang="en-GB" sz="2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207713"/>
                  </a:ext>
                </a:extLst>
              </a:tr>
              <a:tr h="906751">
                <a:tc>
                  <a:txBody>
                    <a:bodyPr/>
                    <a:lstStyle/>
                    <a:p>
                      <a:r>
                        <a:rPr lang="en-US" sz="2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Peek()</a:t>
                      </a:r>
                      <a:endParaRPr lang="en-GB" sz="2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Examines the element at the top of the stack.</a:t>
                      </a:r>
                      <a:endParaRPr lang="en-GB" sz="2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039713"/>
                  </a:ext>
                </a:extLst>
              </a:tr>
              <a:tr h="525339">
                <a:tc>
                  <a:txBody>
                    <a:bodyPr/>
                    <a:lstStyle/>
                    <a:p>
                      <a:r>
                        <a:rPr lang="en-US" sz="2800" b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IsEmpty</a:t>
                      </a:r>
                      <a:r>
                        <a:rPr lang="en-US" sz="2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()</a:t>
                      </a:r>
                      <a:endParaRPr lang="en-GB" sz="2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Determines if the stack is Empty.</a:t>
                      </a:r>
                      <a:endParaRPr lang="en-GB" sz="2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709544"/>
                  </a:ext>
                </a:extLst>
              </a:tr>
              <a:tr h="906751">
                <a:tc>
                  <a:txBody>
                    <a:bodyPr/>
                    <a:lstStyle/>
                    <a:p>
                      <a:r>
                        <a:rPr lang="en-US" sz="2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Size()</a:t>
                      </a:r>
                      <a:endParaRPr lang="en-GB" sz="2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Determines the number of elements on the stack.</a:t>
                      </a:r>
                      <a:endParaRPr lang="en-GB" sz="2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203267"/>
                  </a:ext>
                </a:extLst>
              </a:tr>
            </a:tbl>
          </a:graphicData>
        </a:graphic>
      </p:graphicFrame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760459-460A-B76F-8444-08B958F09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CD3D256-752B-99D8-445A-4BEA43FAC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81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AED552-ADD6-17F0-EA0C-7D6173F7A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147" y="559718"/>
            <a:ext cx="9181707" cy="5738567"/>
          </a:xfrm>
          <a:prstGeom prst="rect">
            <a:avLst/>
          </a:prstGeom>
          <a:ln w="3175" cap="sq">
            <a:solidFill>
              <a:srgbClr val="1CADE4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A3E6B-2699-423A-14BB-C6AB51056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6DA21-BF9D-3991-B0A8-71C6619F9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057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>
            <a:extLst>
              <a:ext uri="{FF2B5EF4-FFF2-40B4-BE49-F238E27FC236}">
                <a16:creationId xmlns:a16="http://schemas.microsoft.com/office/drawing/2014/main" id="{95984E61-5A90-4517-9818-78A00E378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0229" y="453185"/>
            <a:ext cx="9875520" cy="68091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/>
              <a:t>Stacks (cont’d.)</a:t>
            </a:r>
          </a:p>
        </p:txBody>
      </p:sp>
      <p:sp>
        <p:nvSpPr>
          <p:cNvPr id="14340" name="Slide Number Placeholder 5">
            <a:extLst>
              <a:ext uri="{FF2B5EF4-FFF2-40B4-BE49-F238E27FC236}">
                <a16:creationId xmlns:a16="http://schemas.microsoft.com/office/drawing/2014/main" id="{EB515079-284F-4F35-BF98-78F663EB7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DBFF33-82CB-4CF0-9F24-ECB199F8DDF0}" type="slidenum">
              <a:rPr lang="en-US" altLang="en-US" sz="12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/>
          </a:p>
        </p:txBody>
      </p:sp>
      <p:grpSp>
        <p:nvGrpSpPr>
          <p:cNvPr id="14341" name="Group 11">
            <a:extLst>
              <a:ext uri="{FF2B5EF4-FFF2-40B4-BE49-F238E27FC236}">
                <a16:creationId xmlns:a16="http://schemas.microsoft.com/office/drawing/2014/main" id="{699AAC79-54CB-466C-8C0F-7F54501D6F06}"/>
              </a:ext>
            </a:extLst>
          </p:cNvPr>
          <p:cNvGrpSpPr>
            <a:grpSpLocks/>
          </p:cNvGrpSpPr>
          <p:nvPr/>
        </p:nvGrpSpPr>
        <p:grpSpPr bwMode="auto">
          <a:xfrm>
            <a:off x="2041415" y="1191721"/>
            <a:ext cx="7782178" cy="1808939"/>
            <a:chOff x="912" y="1200"/>
            <a:chExt cx="4382" cy="882"/>
          </a:xfrm>
        </p:grpSpPr>
        <p:pic>
          <p:nvPicPr>
            <p:cNvPr id="14345" name="Picture 7" descr="FIG 7-2">
              <a:extLst>
                <a:ext uri="{FF2B5EF4-FFF2-40B4-BE49-F238E27FC236}">
                  <a16:creationId xmlns:a16="http://schemas.microsoft.com/office/drawing/2014/main" id="{D1B2E8AC-B107-4F2B-802D-1D00CF30EE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1200"/>
              <a:ext cx="4382" cy="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6" name="Rectangle 9">
              <a:extLst>
                <a:ext uri="{FF2B5EF4-FFF2-40B4-BE49-F238E27FC236}">
                  <a16:creationId xmlns:a16="http://schemas.microsoft.com/office/drawing/2014/main" id="{EB0AE4AB-6EFC-4E43-B0DB-DE93BE514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7" y="1902"/>
              <a:ext cx="812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Empty stack</a:t>
              </a:r>
            </a:p>
          </p:txBody>
        </p:sp>
      </p:grpSp>
      <p:grpSp>
        <p:nvGrpSpPr>
          <p:cNvPr id="14342" name="Group 12">
            <a:extLst>
              <a:ext uri="{FF2B5EF4-FFF2-40B4-BE49-F238E27FC236}">
                <a16:creationId xmlns:a16="http://schemas.microsoft.com/office/drawing/2014/main" id="{1025ADEF-755B-4648-9233-155FEE06CE54}"/>
              </a:ext>
            </a:extLst>
          </p:cNvPr>
          <p:cNvGrpSpPr>
            <a:grpSpLocks/>
          </p:cNvGrpSpPr>
          <p:nvPr/>
        </p:nvGrpSpPr>
        <p:grpSpPr bwMode="auto">
          <a:xfrm>
            <a:off x="2160403" y="3043113"/>
            <a:ext cx="7842560" cy="3045662"/>
            <a:chOff x="864" y="2233"/>
            <a:chExt cx="4416" cy="1485"/>
          </a:xfrm>
        </p:grpSpPr>
        <p:pic>
          <p:nvPicPr>
            <p:cNvPr id="14343" name="Picture 8" descr="FIG 7-3">
              <a:extLst>
                <a:ext uri="{FF2B5EF4-FFF2-40B4-BE49-F238E27FC236}">
                  <a16:creationId xmlns:a16="http://schemas.microsoft.com/office/drawing/2014/main" id="{DD016A37-479F-414F-A589-15F10978B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4" y="2233"/>
              <a:ext cx="4416" cy="1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4" name="Rectangle 10">
              <a:extLst>
                <a:ext uri="{FF2B5EF4-FFF2-40B4-BE49-F238E27FC236}">
                  <a16:creationId xmlns:a16="http://schemas.microsoft.com/office/drawing/2014/main" id="{AEFEF706-C96C-4DE6-8EAB-19F8725B3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" y="3538"/>
              <a:ext cx="1072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Stack operations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Object-Oriented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2" y="1802423"/>
            <a:ext cx="9872871" cy="429357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Several OO concepts, new and old, will be brought to bear as we explore collections.</a:t>
            </a:r>
          </a:p>
          <a:p>
            <a:r>
              <a:rPr lang="en-US" sz="2800" dirty="0">
                <a:solidFill>
                  <a:schemeClr val="tx1"/>
                </a:solidFill>
              </a:rPr>
              <a:t>We'll rely on type compatibility rules, interfaces, inheritance, and polymorphism.</a:t>
            </a:r>
          </a:p>
          <a:p>
            <a:r>
              <a:rPr lang="en-US" sz="2800" dirty="0">
                <a:solidFill>
                  <a:schemeClr val="tx1"/>
                </a:solidFill>
              </a:rPr>
              <a:t>Review these concepts as necessary.</a:t>
            </a:r>
          </a:p>
          <a:p>
            <a:r>
              <a:rPr lang="en-US" sz="2800" dirty="0">
                <a:solidFill>
                  <a:schemeClr val="tx1"/>
                </a:solidFill>
              </a:rPr>
              <a:t>We'll also rely on a programming mechanism introduced in Java 5, </a:t>
            </a:r>
            <a:r>
              <a:rPr lang="en-US" sz="2800" i="1" dirty="0">
                <a:solidFill>
                  <a:srgbClr val="FF0000"/>
                </a:solidFill>
              </a:rPr>
              <a:t>generics</a:t>
            </a:r>
            <a:r>
              <a:rPr lang="en-US" sz="2800" dirty="0">
                <a:solidFill>
                  <a:schemeClr val="tx1"/>
                </a:solidFill>
              </a:rPr>
              <a:t>, which are particularly appropriate for implementing collections.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2" y="1749669"/>
            <a:ext cx="9872871" cy="434633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Suppose we define a </a:t>
            </a:r>
            <a:r>
              <a:rPr lang="en-US" sz="2800" dirty="0">
                <a:solidFill>
                  <a:srgbClr val="FF0000"/>
                </a:solidFill>
              </a:rPr>
              <a:t>stack</a:t>
            </a:r>
            <a:r>
              <a:rPr lang="en-US" sz="2800" dirty="0">
                <a:solidFill>
                  <a:schemeClr val="tx1"/>
                </a:solidFill>
              </a:rPr>
              <a:t> that holds </a:t>
            </a:r>
            <a:r>
              <a:rPr lang="en-US" sz="2800" dirty="0">
                <a:solidFill>
                  <a:srgbClr val="FF0000"/>
                </a:solidFill>
                <a:latin typeface="Courier New"/>
                <a:cs typeface="Courier New"/>
              </a:rPr>
              <a:t>Object</a:t>
            </a:r>
            <a:r>
              <a:rPr lang="en-US" sz="2800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references, which would allow it to hold </a:t>
            </a:r>
            <a:r>
              <a:rPr lang="en-US" sz="2800" dirty="0">
                <a:solidFill>
                  <a:srgbClr val="FF0000"/>
                </a:solidFill>
              </a:rPr>
              <a:t>any object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  <a:p>
            <a:r>
              <a:rPr lang="en-US" sz="2800" dirty="0">
                <a:solidFill>
                  <a:schemeClr val="tx1"/>
                </a:solidFill>
              </a:rPr>
              <a:t>But then </a:t>
            </a:r>
            <a:r>
              <a:rPr lang="en-US" sz="2800" dirty="0">
                <a:solidFill>
                  <a:srgbClr val="FF0000"/>
                </a:solidFill>
              </a:rPr>
              <a:t>we lose control </a:t>
            </a:r>
            <a:r>
              <a:rPr lang="en-US" sz="2800" dirty="0">
                <a:solidFill>
                  <a:schemeClr val="tx1"/>
                </a:solidFill>
              </a:rPr>
              <a:t>over which types of elements are added to the stack, and we'd have to cast elements to their proper type when removed.</a:t>
            </a:r>
          </a:p>
          <a:p>
            <a:r>
              <a:rPr lang="en-US" sz="2800" dirty="0">
                <a:solidFill>
                  <a:srgbClr val="FF0000"/>
                </a:solidFill>
              </a:rPr>
              <a:t>A better solution </a:t>
            </a:r>
            <a:r>
              <a:rPr lang="en-US" sz="2800" dirty="0">
                <a:solidFill>
                  <a:schemeClr val="tx1"/>
                </a:solidFill>
              </a:rPr>
              <a:t>is to define a class that is based on a </a:t>
            </a:r>
            <a:r>
              <a:rPr lang="en-US" sz="2800" i="1" dirty="0">
                <a:solidFill>
                  <a:srgbClr val="FF0000"/>
                </a:solidFill>
              </a:rPr>
              <a:t>generic type.</a:t>
            </a:r>
          </a:p>
          <a:p>
            <a:r>
              <a:rPr lang="en-US" sz="2800" dirty="0">
                <a:solidFill>
                  <a:schemeClr val="tx1"/>
                </a:solidFill>
              </a:rPr>
              <a:t>The type is referred to generically in the class, and the specific type is specified only when an object of that class is created.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lang="en-US" sz="2400" dirty="0">
                <a:solidFill>
                  <a:schemeClr val="tx1"/>
                </a:solidFill>
              </a:rPr>
              <a:t>The generic type </a:t>
            </a:r>
            <a:r>
              <a:rPr lang="en-US" sz="2400" dirty="0">
                <a:solidFill>
                  <a:srgbClr val="FF0000"/>
                </a:solidFill>
              </a:rPr>
              <a:t>placeholder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is specified in angle brackets in the class header:</a:t>
            </a:r>
          </a:p>
          <a:p>
            <a:pPr>
              <a:buNone/>
            </a:pPr>
            <a:r>
              <a:rPr lang="en-US" sz="2000" dirty="0">
                <a:solidFill>
                  <a:schemeClr val="tx1"/>
                </a:solidFill>
                <a:latin typeface="Courier New"/>
                <a:cs typeface="Courier New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class </a:t>
            </a:r>
            <a:r>
              <a:rPr lang="en-US" sz="2000" b="1" dirty="0">
                <a:solidFill>
                  <a:srgbClr val="FF0000"/>
                </a:solidFill>
                <a:latin typeface="Courier New"/>
                <a:cs typeface="Courier New"/>
              </a:rPr>
              <a:t>Box&lt;T&gt;</a:t>
            </a:r>
          </a:p>
          <a:p>
            <a:pPr>
              <a:buNone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	{</a:t>
            </a:r>
          </a:p>
          <a:p>
            <a:pPr>
              <a:buNone/>
            </a:pPr>
            <a:r>
              <a:rPr lang="en-US" sz="2000" b="1" dirty="0">
                <a:solidFill>
                  <a:srgbClr val="3366FF"/>
                </a:solidFill>
                <a:latin typeface="Courier New"/>
                <a:cs typeface="Courier New"/>
              </a:rPr>
              <a:t>	    // declarations and code that refer to T</a:t>
            </a: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	}</a:t>
            </a:r>
          </a:p>
          <a:p>
            <a:r>
              <a:rPr lang="en-US" sz="2400" dirty="0">
                <a:solidFill>
                  <a:schemeClr val="tx1"/>
                </a:solidFill>
              </a:rPr>
              <a:t>Any identifier can be used, but T (for Type) or E (for element) have become standard practice.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2" y="1749669"/>
            <a:ext cx="9872871" cy="4346331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</a:rPr>
              <a:t>Then, when a </a:t>
            </a:r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Box</a:t>
            </a:r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is needed, it is instantiated with a specific class instead of T:</a:t>
            </a:r>
          </a:p>
          <a:p>
            <a:pPr>
              <a:spcAft>
                <a:spcPts val="1200"/>
              </a:spcAft>
              <a:buNone/>
            </a:pPr>
            <a:r>
              <a:rPr lang="en-US" sz="2400" b="1" dirty="0">
                <a:latin typeface="Courier New"/>
                <a:cs typeface="Courier New"/>
              </a:rPr>
              <a:t>	Box&lt;</a:t>
            </a:r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Widget</a:t>
            </a:r>
            <a:r>
              <a:rPr lang="en-US" sz="2400" b="1" dirty="0">
                <a:latin typeface="Courier New"/>
                <a:cs typeface="Courier New"/>
              </a:rPr>
              <a:t>&gt; box1 = new Box&lt;</a:t>
            </a:r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Widget</a:t>
            </a:r>
            <a:r>
              <a:rPr lang="en-US" sz="2400" b="1" dirty="0">
                <a:latin typeface="Courier New"/>
                <a:cs typeface="Courier New"/>
              </a:rPr>
              <a:t>&gt;();</a:t>
            </a:r>
          </a:p>
          <a:p>
            <a:r>
              <a:rPr lang="en-US" sz="2400" dirty="0">
                <a:solidFill>
                  <a:schemeClr val="tx1"/>
                </a:solidFill>
              </a:rPr>
              <a:t>Now,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box1</a:t>
            </a:r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can only hold </a:t>
            </a:r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Widget</a:t>
            </a:r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objects.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The compiler will issue errors if we try to add a non-</a:t>
            </a:r>
            <a:r>
              <a:rPr lang="en-US" sz="2400" dirty="0">
                <a:solidFill>
                  <a:schemeClr val="tx1"/>
                </a:solidFill>
                <a:latin typeface="Courier New"/>
                <a:cs typeface="Courier New"/>
              </a:rPr>
              <a:t>Widget</a:t>
            </a:r>
            <a:r>
              <a:rPr lang="en-US" sz="2400" dirty="0">
                <a:solidFill>
                  <a:schemeClr val="tx1"/>
                </a:solidFill>
                <a:cs typeface="Courier New"/>
              </a:rPr>
              <a:t> to the box.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And when an object is removed from the box, it is assumed to be a </a:t>
            </a:r>
            <a:r>
              <a:rPr lang="en-US" sz="2400" dirty="0">
                <a:solidFill>
                  <a:schemeClr val="tx1"/>
                </a:solidFill>
                <a:latin typeface="Courier New"/>
                <a:cs typeface="Courier New"/>
              </a:rPr>
              <a:t>Widget.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</a:rPr>
              <a:t>Using the same class, another object can be instantiated:</a:t>
            </a:r>
          </a:p>
          <a:p>
            <a:pPr>
              <a:spcAft>
                <a:spcPts val="1200"/>
              </a:spcAft>
              <a:buNone/>
            </a:pPr>
            <a:r>
              <a:rPr lang="en-US" sz="2800" b="1" dirty="0">
                <a:latin typeface="Courier New"/>
                <a:cs typeface="Courier New"/>
              </a:rPr>
              <a:t>	Box&lt;</a:t>
            </a:r>
            <a:r>
              <a:rPr lang="en-US" sz="2800" b="1" dirty="0">
                <a:solidFill>
                  <a:srgbClr val="FF0000"/>
                </a:solidFill>
                <a:latin typeface="Courier New"/>
                <a:cs typeface="Courier New"/>
              </a:rPr>
              <a:t>Gadget</a:t>
            </a:r>
            <a:r>
              <a:rPr lang="en-US" sz="2800" b="1" dirty="0">
                <a:latin typeface="Courier New"/>
                <a:cs typeface="Courier New"/>
              </a:rPr>
              <a:t>&gt; box2 = new Box&lt;</a:t>
            </a:r>
            <a:r>
              <a:rPr lang="en-US" sz="2800" b="1" dirty="0">
                <a:solidFill>
                  <a:srgbClr val="FF0000"/>
                </a:solidFill>
                <a:latin typeface="Courier New"/>
                <a:cs typeface="Courier New"/>
              </a:rPr>
              <a:t>Gadget</a:t>
            </a:r>
            <a:r>
              <a:rPr lang="en-US" sz="2800" b="1" dirty="0">
                <a:latin typeface="Courier New"/>
                <a:cs typeface="Courier New"/>
              </a:rPr>
              <a:t>&gt;();</a:t>
            </a:r>
          </a:p>
          <a:p>
            <a:r>
              <a:rPr lang="en-US" sz="2800" dirty="0">
                <a:solidFill>
                  <a:schemeClr val="tx1"/>
                </a:solidFill>
              </a:rPr>
              <a:t>The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  <a:latin typeface="Courier New"/>
                <a:cs typeface="Courier New"/>
              </a:rPr>
              <a:t>box2</a:t>
            </a:r>
            <a:r>
              <a:rPr lang="en-US" sz="2800" dirty="0">
                <a:latin typeface="Courier New"/>
                <a:cs typeface="Courier New"/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object can only hold </a:t>
            </a:r>
            <a:r>
              <a:rPr lang="en-US" sz="2800" b="1" dirty="0">
                <a:solidFill>
                  <a:srgbClr val="FF0000"/>
                </a:solidFill>
                <a:latin typeface="Courier New"/>
                <a:cs typeface="Courier New"/>
              </a:rPr>
              <a:t>Gadget</a:t>
            </a:r>
            <a:r>
              <a:rPr lang="en-US" sz="2800" dirty="0">
                <a:latin typeface="Courier New"/>
                <a:cs typeface="Courier New"/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objects.</a:t>
            </a:r>
          </a:p>
          <a:p>
            <a:r>
              <a:rPr lang="en-US" sz="2800" dirty="0">
                <a:solidFill>
                  <a:schemeClr val="tx1"/>
                </a:solidFill>
                <a:cs typeface="Courier New"/>
              </a:rPr>
              <a:t>Generics provide </a:t>
            </a:r>
            <a:r>
              <a:rPr lang="en-US" sz="2800" dirty="0">
                <a:solidFill>
                  <a:srgbClr val="FF0000"/>
                </a:solidFill>
                <a:cs typeface="Courier New"/>
              </a:rPr>
              <a:t>better type management </a:t>
            </a:r>
            <a:r>
              <a:rPr lang="en-US" sz="2800" dirty="0">
                <a:solidFill>
                  <a:schemeClr val="tx1"/>
                </a:solidFill>
                <a:cs typeface="Courier New"/>
              </a:rPr>
              <a:t>control at compile-time and simplify the use of collection classes.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95291"/>
            <a:ext cx="9875520" cy="6463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Stacks-Example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34F658-1D34-49D9-AE95-A5E8EECFC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102" y="1026762"/>
            <a:ext cx="7557796" cy="49401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50407C-70FC-4F87-9B51-83255B8E7423}"/>
              </a:ext>
            </a:extLst>
          </p:cNvPr>
          <p:cNvSpPr txBox="1"/>
          <p:nvPr/>
        </p:nvSpPr>
        <p:spPr>
          <a:xfrm>
            <a:off x="2773163" y="5710020"/>
            <a:ext cx="75204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Stack Animation: </a:t>
            </a:r>
            <a:r>
              <a:rPr lang="en-US" dirty="0"/>
              <a:t>https://liveexample.pearsoncmg.com/dsanimation13ejava/StackeBook.html</a:t>
            </a:r>
          </a:p>
        </p:txBody>
      </p:sp>
    </p:spTree>
    <p:extLst>
      <p:ext uri="{BB962C8B-B14F-4D97-AF65-F5344CB8AC3E}">
        <p14:creationId xmlns:p14="http://schemas.microsoft.com/office/powerpoint/2010/main" val="875764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69045"/>
            <a:ext cx="9875520" cy="636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Stacks-Example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B92E79-16F4-4AC8-9148-EFC9E583D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028700"/>
            <a:ext cx="9144000" cy="551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510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A2B5-EC10-E5D9-98F3-E89B1089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Application: </a:t>
            </a:r>
            <a:r>
              <a:rPr lang="en-US" b="1" dirty="0">
                <a:solidFill>
                  <a:srgbClr val="FF0000"/>
                </a:solidFill>
              </a:rPr>
              <a:t>Reversing</a:t>
            </a:r>
            <a:r>
              <a:rPr lang="en-US" b="1" dirty="0"/>
              <a:t> a String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47BFC-D07B-7337-0219-C963F6553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0330" y="1965960"/>
            <a:ext cx="9872871" cy="40386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6600" dirty="0"/>
              <a:t>Input: “ABCDE”</a:t>
            </a:r>
          </a:p>
          <a:p>
            <a:r>
              <a:rPr lang="en-US" sz="6600" dirty="0"/>
              <a:t>Output: “EDCBA”</a:t>
            </a:r>
          </a:p>
          <a:p>
            <a:r>
              <a:rPr lang="en-US" sz="9600" dirty="0">
                <a:solidFill>
                  <a:srgbClr val="FF0000"/>
                </a:solidFill>
              </a:rPr>
              <a:t>How?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3AD9D-7E26-4FAC-7E46-4567CC2FF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FF6F7-0B96-9F0C-AB6B-F4FFC197F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AE049E-89BB-D9FF-C20D-0C26D73CD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980" y="3322320"/>
            <a:ext cx="4108932" cy="2608152"/>
          </a:xfrm>
          <a:prstGeom prst="rect">
            <a:avLst/>
          </a:prstGeom>
          <a:ln>
            <a:solidFill>
              <a:srgbClr val="1CADE4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5B1352-C467-95CB-200D-C249362AB4F9}"/>
              </a:ext>
            </a:extLst>
          </p:cNvPr>
          <p:cNvSpPr/>
          <p:nvPr/>
        </p:nvSpPr>
        <p:spPr>
          <a:xfrm>
            <a:off x="3666392" y="2031023"/>
            <a:ext cx="3217985" cy="7737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1D0A52-33E2-77DE-B5B4-8B28AE7D11D1}"/>
              </a:ext>
            </a:extLst>
          </p:cNvPr>
          <p:cNvSpPr/>
          <p:nvPr/>
        </p:nvSpPr>
        <p:spPr>
          <a:xfrm>
            <a:off x="4367772" y="3102805"/>
            <a:ext cx="3217985" cy="7737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01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0CBFF-28CF-55D6-BB57-F79F76C23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a String using stack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56786-B981-E8BC-3F23-5702841DB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C2A73-8B1C-28DB-923A-6CB053528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30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606343-2739-9861-AD04-AA697B0F6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3" y="2057400"/>
            <a:ext cx="8368642" cy="40386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GB" b="0" i="0" dirty="0">
                <a:solidFill>
                  <a:srgbClr val="333333"/>
                </a:solidFill>
                <a:effectLst/>
              </a:rPr>
              <a:t>We can use the property of stack data structure to reverse a string. Here are the algorithm –</a:t>
            </a:r>
          </a:p>
          <a:p>
            <a:pPr algn="l"/>
            <a:r>
              <a:rPr lang="en-GB" b="0" i="0" dirty="0">
                <a:solidFill>
                  <a:srgbClr val="333333"/>
                </a:solidFill>
                <a:effectLst/>
              </a:rPr>
              <a:t>First we have to push all the characters of a string in a stack.  Once all the characters are pushed the next step is to pop the characters from a stack.</a:t>
            </a: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Input :  </a:t>
            </a:r>
            <a:r>
              <a:rPr lang="en-US" b="1" dirty="0"/>
              <a:t>JAVA</a:t>
            </a:r>
          </a:p>
          <a:p>
            <a:r>
              <a:rPr lang="en-US" dirty="0"/>
              <a:t>When we do the pop operation, first A is popped out then V,A,J.</a:t>
            </a:r>
          </a:p>
          <a:p>
            <a:r>
              <a:rPr lang="en-US" b="1" dirty="0">
                <a:solidFill>
                  <a:srgbClr val="FF0000"/>
                </a:solidFill>
              </a:rPr>
              <a:t>Output:  </a:t>
            </a:r>
            <a:r>
              <a:rPr lang="en-US" b="1" dirty="0"/>
              <a:t>AVAJ</a:t>
            </a:r>
            <a:endParaRPr lang="en-GB" b="1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C27916DC-5896-2D99-4576-E6A90FA45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109712"/>
              </p:ext>
            </p:extLst>
          </p:nvPr>
        </p:nvGraphicFramePr>
        <p:xfrm>
          <a:off x="10435472" y="2473049"/>
          <a:ext cx="1244338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4338">
                  <a:extLst>
                    <a:ext uri="{9D8B030D-6E8A-4147-A177-3AD203B41FA5}">
                      <a16:colId xmlns:a16="http://schemas.microsoft.com/office/drawing/2014/main" val="2902398113"/>
                    </a:ext>
                  </a:extLst>
                </a:gridCol>
              </a:tblGrid>
              <a:tr h="788687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ln>
                            <a:solidFill>
                              <a:srgbClr val="1CADE4"/>
                            </a:solidFill>
                          </a:ln>
                          <a:solidFill>
                            <a:srgbClr val="1CADE4"/>
                          </a:solidFill>
                        </a:rPr>
                        <a:t>A</a:t>
                      </a:r>
                      <a:endParaRPr lang="en-GB" sz="4800" b="1" dirty="0">
                        <a:ln>
                          <a:solidFill>
                            <a:srgbClr val="1CADE4"/>
                          </a:solidFill>
                        </a:ln>
                        <a:solidFill>
                          <a:srgbClr val="1CADE4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842373"/>
                  </a:ext>
                </a:extLst>
              </a:tr>
              <a:tr h="788687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ln>
                            <a:solidFill>
                              <a:srgbClr val="1CADE4"/>
                            </a:solidFill>
                          </a:ln>
                          <a:solidFill>
                            <a:srgbClr val="1CADE4"/>
                          </a:solidFill>
                        </a:rPr>
                        <a:t>V</a:t>
                      </a:r>
                      <a:endParaRPr lang="en-GB" sz="4800" b="1" dirty="0">
                        <a:ln>
                          <a:solidFill>
                            <a:srgbClr val="1CADE4"/>
                          </a:solidFill>
                        </a:ln>
                        <a:solidFill>
                          <a:srgbClr val="1CADE4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5207208"/>
                  </a:ext>
                </a:extLst>
              </a:tr>
              <a:tr h="788687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ln>
                            <a:solidFill>
                              <a:srgbClr val="1CADE4"/>
                            </a:solidFill>
                          </a:ln>
                          <a:solidFill>
                            <a:srgbClr val="1CADE4"/>
                          </a:solidFill>
                        </a:rPr>
                        <a:t>A</a:t>
                      </a:r>
                      <a:endParaRPr lang="en-GB" sz="4800" b="1" dirty="0">
                        <a:ln>
                          <a:solidFill>
                            <a:srgbClr val="1CADE4"/>
                          </a:solidFill>
                        </a:ln>
                        <a:solidFill>
                          <a:srgbClr val="1CADE4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0449843"/>
                  </a:ext>
                </a:extLst>
              </a:tr>
              <a:tr h="788687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ln>
                            <a:solidFill>
                              <a:srgbClr val="1CADE4"/>
                            </a:solidFill>
                          </a:ln>
                          <a:solidFill>
                            <a:srgbClr val="1CADE4"/>
                          </a:solidFill>
                        </a:rPr>
                        <a:t>J</a:t>
                      </a:r>
                      <a:endParaRPr lang="en-GB" sz="4800" b="1" dirty="0">
                        <a:ln>
                          <a:solidFill>
                            <a:srgbClr val="1CADE4"/>
                          </a:solidFill>
                        </a:ln>
                        <a:solidFill>
                          <a:srgbClr val="1CADE4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716987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81872DE-8166-840E-1F7F-372FD6998EF7}"/>
              </a:ext>
            </a:extLst>
          </p:cNvPr>
          <p:cNvSpPr txBox="1"/>
          <p:nvPr/>
        </p:nvSpPr>
        <p:spPr>
          <a:xfrm>
            <a:off x="9552375" y="2473049"/>
            <a:ext cx="883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>
                  <a:solidFill>
                    <a:srgbClr val="FF0000"/>
                  </a:solidFill>
                </a:ln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top</a:t>
            </a:r>
            <a:endParaRPr lang="en-GB" sz="2800" dirty="0">
              <a:ln w="0">
                <a:solidFill>
                  <a:srgbClr val="FF0000"/>
                </a:solidFill>
              </a:ln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4FF932-485E-34F2-8E86-42F42F4478D1}"/>
              </a:ext>
            </a:extLst>
          </p:cNvPr>
          <p:cNvCxnSpPr/>
          <p:nvPr/>
        </p:nvCxnSpPr>
        <p:spPr>
          <a:xfrm>
            <a:off x="9884254" y="3006508"/>
            <a:ext cx="47907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274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0229" y="412429"/>
            <a:ext cx="10419240" cy="882984"/>
          </a:xfrm>
        </p:spPr>
        <p:txBody>
          <a:bodyPr>
            <a:normAutofit/>
          </a:bodyPr>
          <a:lstStyle/>
          <a:p>
            <a:r>
              <a:rPr lang="en-US" sz="4000" b="1" dirty="0"/>
              <a:t>Application: </a:t>
            </a:r>
            <a:r>
              <a:rPr lang="en-US" sz="4000" b="1" dirty="0">
                <a:solidFill>
                  <a:srgbClr val="FF0000"/>
                </a:solidFill>
              </a:rPr>
              <a:t>Reversing</a:t>
            </a:r>
            <a:r>
              <a:rPr lang="en-US" sz="4000" b="1" dirty="0"/>
              <a:t> a String </a:t>
            </a:r>
            <a:r>
              <a:rPr lang="en-US" sz="4000" b="1" dirty="0">
                <a:solidFill>
                  <a:srgbClr val="FF0000"/>
                </a:solidFill>
              </a:rPr>
              <a:t>Solution: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D45A4-5FA8-4112-8C7B-1E9D88F75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359" y="1438797"/>
            <a:ext cx="7407282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47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44415"/>
          </a:xfrm>
        </p:spPr>
        <p:txBody>
          <a:bodyPr>
            <a:normAutofit/>
          </a:bodyPr>
          <a:lstStyle/>
          <a:p>
            <a:r>
              <a:rPr lang="en-US" sz="4000" b="1" dirty="0"/>
              <a:t>Application: </a:t>
            </a:r>
            <a:r>
              <a:rPr lang="en-US" sz="4000" b="1" dirty="0">
                <a:solidFill>
                  <a:srgbClr val="FF0000"/>
                </a:solidFill>
              </a:rPr>
              <a:t>Reversing</a:t>
            </a:r>
            <a:r>
              <a:rPr lang="en-US" sz="4000" b="1" dirty="0"/>
              <a:t> a String </a:t>
            </a:r>
            <a:r>
              <a:rPr lang="en-US" sz="4000" b="1" dirty="0">
                <a:solidFill>
                  <a:srgbClr val="FF0000"/>
                </a:solidFill>
              </a:rPr>
              <a:t>Testing: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3B8817-FB24-48E3-8C60-4B568A688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310" y="1686415"/>
            <a:ext cx="8771380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760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0229" y="334108"/>
            <a:ext cx="9875520" cy="919648"/>
          </a:xfrm>
        </p:spPr>
        <p:txBody>
          <a:bodyPr>
            <a:normAutofit/>
          </a:bodyPr>
          <a:lstStyle/>
          <a:p>
            <a:r>
              <a:rPr lang="en-US" b="1" dirty="0"/>
              <a:t>Application: </a:t>
            </a:r>
            <a:r>
              <a:rPr lang="en-US" b="1" dirty="0">
                <a:solidFill>
                  <a:srgbClr val="FF0000"/>
                </a:solidFill>
              </a:rPr>
              <a:t>Reversing</a:t>
            </a:r>
            <a:r>
              <a:rPr lang="en-US" b="1" dirty="0"/>
              <a:t> a String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5904EC-C79E-4611-BBA3-CE665C4CA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323" y="1253756"/>
            <a:ext cx="10594731" cy="510259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The previous solution works well, but there is a lot of string concatenation </a:t>
            </a:r>
            <a:r>
              <a:rPr lang="en-US" sz="4000" dirty="0">
                <a:solidFill>
                  <a:srgbClr val="FF0000"/>
                </a:solidFill>
              </a:rPr>
              <a:t>(reversed+=</a:t>
            </a:r>
            <a:r>
              <a:rPr lang="en-US" sz="4000" dirty="0" err="1">
                <a:solidFill>
                  <a:srgbClr val="FF0000"/>
                </a:solidFill>
              </a:rPr>
              <a:t>stack.pop</a:t>
            </a:r>
            <a:r>
              <a:rPr lang="en-US" sz="4000" dirty="0">
                <a:solidFill>
                  <a:srgbClr val="FF0000"/>
                </a:solidFill>
              </a:rPr>
              <a:t>()).</a:t>
            </a:r>
          </a:p>
          <a:p>
            <a:r>
              <a:rPr lang="en-US" sz="4000" dirty="0">
                <a:solidFill>
                  <a:schemeClr val="tx1"/>
                </a:solidFill>
              </a:rPr>
              <a:t>Imagine if the string input is long:</a:t>
            </a:r>
          </a:p>
          <a:p>
            <a:pPr lvl="1"/>
            <a:r>
              <a:rPr lang="en-US" sz="4000" dirty="0">
                <a:solidFill>
                  <a:schemeClr val="tx1"/>
                </a:solidFill>
              </a:rPr>
              <a:t>Every time it is run, a new string object is created in memory because strings are immutable in Java.</a:t>
            </a:r>
          </a:p>
        </p:txBody>
      </p:sp>
    </p:spTree>
    <p:extLst>
      <p:ext uri="{BB962C8B-B14F-4D97-AF65-F5344CB8AC3E}">
        <p14:creationId xmlns:p14="http://schemas.microsoft.com/office/powerpoint/2010/main" val="35572934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9CE80-A039-78FF-F5DC-FB450D92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973015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Application: </a:t>
            </a:r>
            <a:r>
              <a:rPr lang="en-US" sz="4000" b="1" dirty="0">
                <a:solidFill>
                  <a:srgbClr val="FF0000"/>
                </a:solidFill>
              </a:rPr>
              <a:t>Reversing</a:t>
            </a:r>
            <a:r>
              <a:rPr lang="en-US" sz="4000" b="1" dirty="0"/>
              <a:t> a String</a:t>
            </a:r>
            <a:br>
              <a:rPr lang="en-US" sz="4000" b="1" dirty="0"/>
            </a:br>
            <a:r>
              <a:rPr lang="en-US" sz="4000" b="1" dirty="0">
                <a:solidFill>
                  <a:srgbClr val="FF0000"/>
                </a:solidFill>
              </a:rPr>
              <a:t>A better Solution:</a:t>
            </a:r>
            <a:endParaRPr lang="en-GB" sz="40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46EDE1-4DE6-F80C-4EBB-A32EC5229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0974" y="1571267"/>
            <a:ext cx="7330052" cy="466391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FB849-7FA5-069B-1D38-27043672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96264-54B7-8B76-894A-4E02C8C21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8124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63011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2" y="1389185"/>
            <a:ext cx="9872871" cy="470681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An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FF0000"/>
                </a:solidFill>
              </a:rPr>
              <a:t>exception</a:t>
            </a:r>
            <a:r>
              <a:rPr lang="en-US" sz="3600" dirty="0"/>
              <a:t> </a:t>
            </a:r>
            <a:r>
              <a:rPr lang="en-US" sz="3600" dirty="0">
                <a:solidFill>
                  <a:schemeClr val="tx1"/>
                </a:solidFill>
              </a:rPr>
              <a:t>is an object that defines an unusual or erroneous situation. </a:t>
            </a:r>
          </a:p>
          <a:p>
            <a:r>
              <a:rPr lang="en-US" sz="3600" dirty="0">
                <a:solidFill>
                  <a:schemeClr val="tx1"/>
                </a:solidFill>
              </a:rPr>
              <a:t>An exception is thrown by a program or the run-time environment, and it can be caught and handled appropriately if desired.</a:t>
            </a:r>
          </a:p>
          <a:p>
            <a:r>
              <a:rPr lang="en-US" sz="3600" dirty="0">
                <a:solidFill>
                  <a:srgbClr val="FF0000"/>
                </a:solidFill>
              </a:rPr>
              <a:t>Several potential exceptions for Stacks: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If the stack is full on a push.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If the stack is empty on a pop.</a:t>
            </a:r>
          </a:p>
          <a:p>
            <a:pPr marL="457200" lvl="1" indent="0">
              <a:buNone/>
            </a:pP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50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44415"/>
          </a:xfrm>
        </p:spPr>
        <p:txBody>
          <a:bodyPr/>
          <a:lstStyle/>
          <a:p>
            <a:r>
              <a:rPr lang="en-US" b="1" dirty="0"/>
              <a:t>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2" y="1477108"/>
            <a:ext cx="9872871" cy="46188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When should exceptions be thrown from a collection class?</a:t>
            </a:r>
          </a:p>
          <a:p>
            <a:r>
              <a:rPr lang="en-US" sz="3200" dirty="0">
                <a:solidFill>
                  <a:schemeClr val="tx1"/>
                </a:solidFill>
              </a:rPr>
              <a:t>Only when a problem is specific to the concept of the collection (not its implementation or its use)</a:t>
            </a:r>
          </a:p>
          <a:p>
            <a:r>
              <a:rPr lang="en-US" sz="3200" dirty="0">
                <a:solidFill>
                  <a:schemeClr val="tx1"/>
                </a:solidFill>
              </a:rPr>
              <a:t>There's no need for the user of a collection to worry about it getting "full," so we'll take care of any such limitations internally.</a:t>
            </a:r>
          </a:p>
          <a:p>
            <a:r>
              <a:rPr lang="en-US" sz="3200" dirty="0">
                <a:solidFill>
                  <a:schemeClr val="tx1"/>
                </a:solidFill>
              </a:rPr>
              <a:t>But a stack should throw an exception if the user attempts </a:t>
            </a:r>
            <a:r>
              <a:rPr lang="en-US" sz="3200" dirty="0">
                <a:solidFill>
                  <a:srgbClr val="FF0000"/>
                </a:solidFill>
              </a:rPr>
              <a:t>to pop an empty stack.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9B368-095E-BD63-53E5-219A974F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Representation of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3CAE9-7208-82B5-3DEF-794025403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10546237" cy="40386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sz="4800" dirty="0">
                <a:solidFill>
                  <a:srgbClr val="374151"/>
                </a:solidFill>
                <a:latin typeface="Corbel (Body)"/>
              </a:rPr>
              <a:t>There are two ways to implement Stack:</a:t>
            </a:r>
          </a:p>
          <a:p>
            <a:pPr marL="502907" indent="-457189">
              <a:buFont typeface="+mj-lt"/>
              <a:buAutoNum type="arabicPeriod"/>
            </a:pPr>
            <a:r>
              <a:rPr lang="en-GB" sz="4800" dirty="0">
                <a:solidFill>
                  <a:srgbClr val="374151"/>
                </a:solidFill>
                <a:latin typeface="Corbel (Body)"/>
              </a:rPr>
              <a:t>the first one is using </a:t>
            </a:r>
            <a:r>
              <a:rPr lang="en-GB" sz="4800" b="1" dirty="0">
                <a:solidFill>
                  <a:srgbClr val="FF0000"/>
                </a:solidFill>
                <a:latin typeface="Corbel (Body)"/>
              </a:rPr>
              <a:t>array</a:t>
            </a:r>
            <a:r>
              <a:rPr lang="en-GB" sz="4800" b="1" dirty="0">
                <a:solidFill>
                  <a:srgbClr val="374151"/>
                </a:solidFill>
                <a:latin typeface="Corbel (Body)"/>
              </a:rPr>
              <a:t> ,</a:t>
            </a:r>
          </a:p>
          <a:p>
            <a:pPr marL="502907" indent="-457189">
              <a:buFont typeface="+mj-lt"/>
              <a:buAutoNum type="arabicPeriod"/>
            </a:pPr>
            <a:r>
              <a:rPr lang="en-GB" sz="4800" dirty="0">
                <a:solidFill>
                  <a:srgbClr val="374151"/>
                </a:solidFill>
                <a:latin typeface="Corbel (Body)"/>
              </a:rPr>
              <a:t>and the other one is using a </a:t>
            </a:r>
            <a:r>
              <a:rPr lang="en-GB" sz="4400" b="1" dirty="0">
                <a:solidFill>
                  <a:srgbClr val="FF0000"/>
                </a:solidFill>
                <a:latin typeface="Corbel (Body)"/>
              </a:rPr>
              <a:t>Linked list.</a:t>
            </a:r>
            <a:endParaRPr lang="en-GB" sz="4800" b="1" dirty="0">
              <a:solidFill>
                <a:srgbClr val="FF0000"/>
              </a:solidFill>
              <a:latin typeface="Corbel (Body)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CE5B6-745C-F72A-1BA3-9F14F077D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29D37-8420-F5AA-781A-21BE21E2D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4620D-1396-A4F7-245F-7A31D95B6E1C}"/>
              </a:ext>
            </a:extLst>
          </p:cNvPr>
          <p:cNvSpPr/>
          <p:nvPr/>
        </p:nvSpPr>
        <p:spPr>
          <a:xfrm>
            <a:off x="6840415" y="3015762"/>
            <a:ext cx="1503485" cy="6066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DE838D-259A-505B-018F-28DFA2FEA736}"/>
              </a:ext>
            </a:extLst>
          </p:cNvPr>
          <p:cNvSpPr/>
          <p:nvPr/>
        </p:nvSpPr>
        <p:spPr>
          <a:xfrm>
            <a:off x="8666924" y="3777762"/>
            <a:ext cx="2666361" cy="6066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7720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BDF7D-8C42-A917-CDB8-F67BBC25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Implementing a Stack with an </a:t>
            </a:r>
            <a:r>
              <a:rPr lang="en-US" b="1" dirty="0">
                <a:solidFill>
                  <a:srgbClr val="1CADE4"/>
                </a:solidFill>
              </a:rPr>
              <a:t>Array</a:t>
            </a:r>
            <a:endParaRPr lang="en-GB" b="1" dirty="0">
              <a:solidFill>
                <a:srgbClr val="1CADE4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53674-E0D2-4DC0-4EF5-25239D574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ARRAY STACK</a:t>
            </a:r>
            <a:endParaRPr lang="en-GB" sz="4000" b="1" dirty="0">
              <a:solidFill>
                <a:srgbClr val="FF0000"/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AEE78F2-D818-9086-CB19-34662BC0A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CD4827E-A47B-FAD8-8679-866A832E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38</a:t>
            </a:fld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5EF37B0-C4DC-54E9-935D-DB600C72ACB9}"/>
              </a:ext>
            </a:extLst>
          </p:cNvPr>
          <p:cNvSpPr/>
          <p:nvPr/>
        </p:nvSpPr>
        <p:spPr>
          <a:xfrm>
            <a:off x="345391" y="778498"/>
            <a:ext cx="1081836" cy="9803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  <a:endParaRPr lang="en-GB" sz="88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149460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58715"/>
          </a:xfrm>
        </p:spPr>
        <p:txBody>
          <a:bodyPr>
            <a:normAutofit/>
          </a:bodyPr>
          <a:lstStyle/>
          <a:p>
            <a:r>
              <a:rPr lang="en-US" sz="4000" b="1" dirty="0"/>
              <a:t>Implementing a Stack 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2" y="1617785"/>
            <a:ext cx="9872871" cy="447821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Let's now explore our </a:t>
            </a:r>
            <a:r>
              <a:rPr lang="en-US" sz="3200" dirty="0">
                <a:solidFill>
                  <a:srgbClr val="FF0000"/>
                </a:solidFill>
              </a:rPr>
              <a:t>own implementation </a:t>
            </a:r>
            <a:r>
              <a:rPr lang="en-US" sz="3200" dirty="0">
                <a:solidFill>
                  <a:schemeClr val="tx1"/>
                </a:solidFill>
              </a:rPr>
              <a:t>of a stack, </a:t>
            </a:r>
            <a:r>
              <a:rPr lang="en-US" sz="3200" dirty="0">
                <a:solidFill>
                  <a:srgbClr val="FF0000"/>
                </a:solidFill>
              </a:rPr>
              <a:t>using an array </a:t>
            </a:r>
            <a:r>
              <a:rPr lang="en-US" sz="3200" dirty="0">
                <a:solidFill>
                  <a:schemeClr val="tx1"/>
                </a:solidFill>
              </a:rPr>
              <a:t>as the underlying structure in which we'll store the stack elements.</a:t>
            </a:r>
          </a:p>
          <a:p>
            <a:r>
              <a:rPr lang="en-US" sz="3200" dirty="0">
                <a:solidFill>
                  <a:schemeClr val="tx1"/>
                </a:solidFill>
              </a:rPr>
              <a:t>We'll have to take into account the possibility that the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array could become full.</a:t>
            </a:r>
          </a:p>
          <a:p>
            <a:r>
              <a:rPr lang="en-US" sz="3200" dirty="0">
                <a:solidFill>
                  <a:schemeClr val="tx1"/>
                </a:solidFill>
              </a:rPr>
              <a:t>And remember that an array of objects really stores references to those objects.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630115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Implementing Stacks 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An array of object references:</a:t>
            </a:r>
          </a:p>
        </p:txBody>
      </p:sp>
      <p:pic>
        <p:nvPicPr>
          <p:cNvPr id="6" name="Picture 5" descr="Fig12.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783" y="1861895"/>
            <a:ext cx="2418194" cy="409664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586154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Managing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2" y="1327638"/>
            <a:ext cx="9872871" cy="47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When an array object is created, it is allocated a specific number of cells into which elements can be stored. 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Object[] collection = Object[500]; // </a:t>
            </a:r>
            <a:r>
              <a:rPr lang="en-US" sz="3200" dirty="0">
                <a:solidFill>
                  <a:schemeClr val="tx1"/>
                </a:solidFill>
              </a:rPr>
              <a:t>stored at 0-499</a:t>
            </a:r>
          </a:p>
          <a:p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Arrays are fixed-size data structure.</a:t>
            </a:r>
          </a:p>
          <a:p>
            <a:r>
              <a:rPr lang="en-US" dirty="0">
                <a:solidFill>
                  <a:srgbClr val="FF0000"/>
                </a:solidFill>
              </a:rPr>
              <a:t>What to do if a new element is added to a full stack?</a:t>
            </a: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Throw an </a:t>
            </a:r>
            <a:r>
              <a:rPr lang="en-US" sz="3200" dirty="0">
                <a:solidFill>
                  <a:srgbClr val="FF0000"/>
                </a:solidFill>
              </a:rPr>
              <a:t>exception</a:t>
            </a: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Return a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status indicator </a:t>
            </a:r>
            <a:r>
              <a:rPr lang="en-US" sz="3200" dirty="0">
                <a:solidFill>
                  <a:schemeClr val="tx1"/>
                </a:solidFill>
              </a:rPr>
              <a:t>showing if the addition was successful.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Automatically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expand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/>
                </a:solidFill>
              </a:rPr>
              <a:t>the capacity of the array (the array would never become full).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5557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6125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Managing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1" y="1424354"/>
            <a:ext cx="10631079" cy="479152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dirty="0"/>
              <a:t>The number of cells in an array is called its </a:t>
            </a:r>
            <a:r>
              <a:rPr lang="en-US" sz="3200" i="1" dirty="0">
                <a:solidFill>
                  <a:srgbClr val="FF0000"/>
                </a:solidFill>
              </a:rPr>
              <a:t>capacity.</a:t>
            </a:r>
          </a:p>
          <a:p>
            <a:r>
              <a:rPr lang="en-US" sz="3200" dirty="0">
                <a:solidFill>
                  <a:srgbClr val="FF0000"/>
                </a:solidFill>
              </a:rPr>
              <a:t>It's not possible to change </a:t>
            </a:r>
            <a:r>
              <a:rPr lang="en-US" sz="3200" dirty="0"/>
              <a:t>the capacity of an array in Java once it's been created.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Arrays are fixed-size data structure.</a:t>
            </a:r>
          </a:p>
          <a:p>
            <a:r>
              <a:rPr lang="en-US" sz="3200" dirty="0"/>
              <a:t>Therefore, to expand the capacity of the stack, </a:t>
            </a:r>
            <a:r>
              <a:rPr lang="en-US" sz="3200" dirty="0">
                <a:solidFill>
                  <a:srgbClr val="FF0000"/>
                </a:solidFill>
              </a:rPr>
              <a:t>we'll create a new (larger) </a:t>
            </a:r>
            <a:r>
              <a:rPr lang="en-US" sz="3200" dirty="0"/>
              <a:t>array and copy over the elements.</a:t>
            </a:r>
          </a:p>
          <a:p>
            <a:r>
              <a:rPr lang="en-US" sz="3200" dirty="0"/>
              <a:t>This will happen infrequently, and the user of the stack need not worry about it happening.</a:t>
            </a:r>
          </a:p>
          <a:p>
            <a:endParaRPr lang="en-US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3511BE-989C-64B9-95D1-0512C4E31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EB06A5-50B2-F4D6-3098-DD67E88F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42</a:t>
            </a:fld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638908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Implementing Stacks 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2" y="1380392"/>
            <a:ext cx="9872871" cy="471560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By convention, collection class names indicate the underlying structure: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So ours will be called </a:t>
            </a:r>
            <a:r>
              <a:rPr lang="en-US" sz="2400" dirty="0" err="1">
                <a:solidFill>
                  <a:schemeClr val="tx1"/>
                </a:solidFill>
                <a:highlight>
                  <a:srgbClr val="FFFF00"/>
                </a:highlight>
                <a:latin typeface="Courier New"/>
                <a:cs typeface="Courier New"/>
              </a:rPr>
              <a:t>ArrayStack</a:t>
            </a:r>
            <a:endParaRPr lang="en-US" sz="2400" dirty="0">
              <a:solidFill>
                <a:schemeClr val="tx1"/>
              </a:solidFill>
              <a:highlight>
                <a:srgbClr val="FFFF00"/>
              </a:highlight>
              <a:latin typeface="Courier New"/>
              <a:cs typeface="Courier New"/>
            </a:endParaRPr>
          </a:p>
          <a:p>
            <a:pPr lvl="1"/>
            <a:r>
              <a:rPr lang="en-US" sz="2400" dirty="0" err="1">
                <a:solidFill>
                  <a:schemeClr val="tx1"/>
                </a:solidFill>
                <a:latin typeface="Courier New"/>
                <a:cs typeface="Courier New"/>
              </a:rPr>
              <a:t>java.util.Stack</a:t>
            </a:r>
            <a:r>
              <a:rPr lang="en-US" sz="2400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is an exception to this convention</a:t>
            </a:r>
          </a:p>
          <a:p>
            <a:r>
              <a:rPr lang="en-US" sz="2400" dirty="0">
                <a:solidFill>
                  <a:srgbClr val="FF0000"/>
                </a:solidFill>
              </a:rPr>
              <a:t>Assumptions: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The array is an array of object references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FF0000"/>
                </a:solidFill>
              </a:rPr>
              <a:t>type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determined when the stack is instantiated).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Our solution will keep the bottom of the stack fixed at </a:t>
            </a:r>
            <a:r>
              <a:rPr lang="en-US" sz="2400" dirty="0">
                <a:solidFill>
                  <a:srgbClr val="FF0000"/>
                </a:solidFill>
              </a:rPr>
              <a:t>index </a:t>
            </a:r>
            <a:r>
              <a:rPr lang="en-US" sz="2400" dirty="0">
                <a:solidFill>
                  <a:srgbClr val="FF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0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of the array.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A separate integer called </a:t>
            </a:r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top</a:t>
            </a:r>
            <a:r>
              <a:rPr lang="en-US" sz="2400" dirty="0">
                <a:cs typeface="Courier New"/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will indicate where the top of the stack is, as well as how many elements are in the stack currently.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682869"/>
          </a:xfrm>
        </p:spPr>
        <p:txBody>
          <a:bodyPr>
            <a:normAutofit/>
          </a:bodyPr>
          <a:lstStyle/>
          <a:p>
            <a:r>
              <a:rPr lang="en-US" sz="4000" b="1" dirty="0"/>
              <a:t>Implementing a Stack 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2" y="1644162"/>
            <a:ext cx="9872871" cy="445183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A stack with elements </a:t>
            </a:r>
            <a:r>
              <a:rPr lang="en-US" sz="2800" b="1" dirty="0">
                <a:solidFill>
                  <a:schemeClr val="tx1"/>
                </a:solidFill>
              </a:rPr>
              <a:t>A, B, C, </a:t>
            </a:r>
            <a:r>
              <a:rPr lang="en-US" sz="2800" dirty="0">
                <a:solidFill>
                  <a:schemeClr val="tx1"/>
                </a:solidFill>
              </a:rPr>
              <a:t>and</a:t>
            </a:r>
            <a:r>
              <a:rPr lang="en-US" sz="2800" b="1" dirty="0">
                <a:solidFill>
                  <a:schemeClr val="tx1"/>
                </a:solidFill>
              </a:rPr>
              <a:t> D pushed </a:t>
            </a:r>
            <a:r>
              <a:rPr lang="en-US" sz="2800" dirty="0">
                <a:solidFill>
                  <a:schemeClr val="tx1"/>
                </a:solidFill>
              </a:rPr>
              <a:t>on in that order:</a:t>
            </a:r>
          </a:p>
        </p:txBody>
      </p:sp>
      <p:pic>
        <p:nvPicPr>
          <p:cNvPr id="7" name="Picture 6" descr="Fig12.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441" y="2577405"/>
            <a:ext cx="8289117" cy="2585352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594946"/>
          </a:xfrm>
        </p:spPr>
        <p:txBody>
          <a:bodyPr>
            <a:noAutofit/>
          </a:bodyPr>
          <a:lstStyle/>
          <a:p>
            <a:r>
              <a:rPr lang="en-US" sz="4000" b="1" dirty="0"/>
              <a:t>Pushing and Popping a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After pushing element E: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After popping:</a:t>
            </a:r>
          </a:p>
        </p:txBody>
      </p:sp>
      <p:pic>
        <p:nvPicPr>
          <p:cNvPr id="6" name="Picture 5" descr="Fig12.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974" y="1809370"/>
            <a:ext cx="4891409" cy="1519661"/>
          </a:xfrm>
          <a:prstGeom prst="rect">
            <a:avLst/>
          </a:prstGeom>
        </p:spPr>
      </p:pic>
      <p:pic>
        <p:nvPicPr>
          <p:cNvPr id="7" name="Picture 6" descr="Fig12.1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158" y="3577061"/>
            <a:ext cx="5011039" cy="1547996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951600-51F2-21AB-A7D0-87FF7DAA6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325" y="307536"/>
            <a:ext cx="9119369" cy="624292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09446A1-14BB-7C41-B08C-BEE1E8C62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2854" y="3605095"/>
            <a:ext cx="2573519" cy="92333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Arial Unicode MS" panose="020B0604020202020204" pitchFamily="34" charset="-128"/>
              </a:rPr>
              <a:t>Creates an empty stack using the default capacity.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endParaRPr lang="en-US" altLang="en-US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809423-F804-D013-1A26-03390B6C69F3}"/>
              </a:ext>
            </a:extLst>
          </p:cNvPr>
          <p:cNvSpPr txBox="1"/>
          <p:nvPr/>
        </p:nvSpPr>
        <p:spPr>
          <a:xfrm>
            <a:off x="464271" y="5358293"/>
            <a:ext cx="2080967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Creates an empty stack using the specified capacity.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A22CF8D-1CA1-62E2-4B33-FF1271CA14A4}"/>
              </a:ext>
            </a:extLst>
          </p:cNvPr>
          <p:cNvCxnSpPr>
            <a:stCxn id="5" idx="3"/>
          </p:cNvCxnSpPr>
          <p:nvPr/>
        </p:nvCxnSpPr>
        <p:spPr>
          <a:xfrm flipV="1">
            <a:off x="2545238" y="5241304"/>
            <a:ext cx="1168924" cy="57865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3999DDE-709F-D8FB-B6C5-BA901115ACA4}"/>
              </a:ext>
            </a:extLst>
          </p:cNvPr>
          <p:cNvCxnSpPr>
            <a:cxnSpLocks/>
          </p:cNvCxnSpPr>
          <p:nvPr/>
        </p:nvCxnSpPr>
        <p:spPr>
          <a:xfrm flipH="1">
            <a:off x="7366007" y="4066759"/>
            <a:ext cx="1796847" cy="8393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57BB3E4-E85B-776A-BE42-84054D773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790CA87-E0E2-BE03-DFD5-96CA407B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D692C5-9894-EE93-0C07-F8C3DF8A589D}"/>
              </a:ext>
            </a:extLst>
          </p:cNvPr>
          <p:cNvSpPr txBox="1"/>
          <p:nvPr/>
        </p:nvSpPr>
        <p:spPr>
          <a:xfrm>
            <a:off x="352720" y="2317750"/>
            <a:ext cx="208096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Constant variable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65C77F-9DF2-175D-0DAC-251CCCD78757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433687" y="2441765"/>
            <a:ext cx="1055802" cy="6065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61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665285"/>
          </a:xfrm>
        </p:spPr>
        <p:txBody>
          <a:bodyPr>
            <a:normAutofit/>
          </a:bodyPr>
          <a:lstStyle/>
          <a:p>
            <a:r>
              <a:rPr lang="en-US" sz="4000" b="1" dirty="0"/>
              <a:t>Creating an Array of a Generic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2" y="1538654"/>
            <a:ext cx="9872871" cy="455734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You </a:t>
            </a:r>
            <a:r>
              <a:rPr lang="en-US" sz="2800" dirty="0">
                <a:solidFill>
                  <a:srgbClr val="FF0000"/>
                </a:solidFill>
              </a:rPr>
              <a:t>cannot instantiate </a:t>
            </a:r>
            <a:r>
              <a:rPr lang="en-US" sz="2800" dirty="0">
                <a:solidFill>
                  <a:schemeClr val="tx1"/>
                </a:solidFill>
              </a:rPr>
              <a:t>an array of a generic type directly.</a:t>
            </a:r>
          </a:p>
          <a:p>
            <a:r>
              <a:rPr lang="en-US" sz="2800" dirty="0">
                <a:solidFill>
                  <a:schemeClr val="tx1"/>
                </a:solidFill>
              </a:rPr>
              <a:t>Instead, create an array of </a:t>
            </a:r>
            <a:r>
              <a:rPr lang="en-US" sz="2800" dirty="0">
                <a:solidFill>
                  <a:schemeClr val="tx1"/>
                </a:solidFill>
                <a:latin typeface="Courier New"/>
                <a:cs typeface="Courier New"/>
              </a:rPr>
              <a:t>Object</a:t>
            </a:r>
            <a:r>
              <a:rPr lang="en-US" sz="2800" dirty="0">
                <a:solidFill>
                  <a:schemeClr val="tx1"/>
                </a:solidFill>
                <a:cs typeface="Courier New"/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references and cast them to the generic type.</a:t>
            </a:r>
          </a:p>
        </p:txBody>
      </p:sp>
      <p:pic>
        <p:nvPicPr>
          <p:cNvPr id="6" name="Picture 5" descr="Syntax array of generic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540" y="3245218"/>
            <a:ext cx="6223962" cy="243825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36B1F5-8A16-A58A-9329-3535B5DFC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94" y="585409"/>
            <a:ext cx="11048215" cy="568718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3E35D64-A8A8-139A-082B-B63FC401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114" y="940210"/>
            <a:ext cx="3632993" cy="120032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  <a:highlight>
                  <a:srgbClr val="FFFF00"/>
                </a:highlight>
                <a:latin typeface="Arial Unicode MS" panose="020B0604020202020204" pitchFamily="34" charset="-128"/>
              </a:rPr>
              <a:t>Adds the specified element to the top of the stack, expanding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  <a:highlight>
                  <a:srgbClr val="FFFF00"/>
                </a:highlight>
                <a:latin typeface="Arial Unicode MS" panose="020B0604020202020204" pitchFamily="34" charset="-128"/>
              </a:rPr>
              <a:t> the capacity of the stack array if necessary.</a:t>
            </a:r>
            <a:endParaRPr lang="en-US" altLang="en-US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CD41C95-8332-B660-DE8E-8ACE7F791CD4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1074658"/>
            <a:ext cx="1891115" cy="46571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B93BC178-04BF-119F-D7BE-58FB573D6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529" y="3279599"/>
            <a:ext cx="3632993" cy="92333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  <a:highlight>
                  <a:srgbClr val="FFFF00"/>
                </a:highlight>
                <a:latin typeface="Arial Unicode MS" panose="020B0604020202020204" pitchFamily="34" charset="-128"/>
              </a:rPr>
              <a:t>Creates a new array to store the contents of the stack with twice the capacity of the old one.</a:t>
            </a:r>
            <a:endParaRPr lang="en-US" altLang="en-US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57546DC-5DEB-8DC0-1278-151B9BB95037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419656" y="3741264"/>
            <a:ext cx="1642873" cy="3122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1F43F51F-C76B-4BCA-85BB-333DD9D6E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557" y="5460177"/>
            <a:ext cx="3632993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  <a:highlight>
                  <a:srgbClr val="FFFF00"/>
                </a:highlight>
                <a:latin typeface="Arial Unicode MS" panose="020B0604020202020204" pitchFamily="34" charset="-128"/>
              </a:rPr>
              <a:t>Returns the number of elements in the stack.</a:t>
            </a:r>
            <a:endParaRPr lang="en-US" altLang="en-US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2C991C-9B1A-A447-07EB-36C8A9A99A95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3987537" y="5783343"/>
            <a:ext cx="1635020" cy="801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63A563C-D3CE-4F3B-FC46-72509D78B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EAC8CCA-D7DD-E8BC-ECA0-A54BA8F2A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55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D88307-1402-37F0-FFC3-6899193BA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21" y="302073"/>
            <a:ext cx="7709587" cy="625385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5609394-490D-0E4E-499E-8BAAE5B5D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057" y="408054"/>
            <a:ext cx="3632993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  <a:highlight>
                  <a:srgbClr val="FFFF00"/>
                </a:highlight>
                <a:latin typeface="Arial Unicode MS" panose="020B0604020202020204" pitchFamily="34" charset="-128"/>
              </a:rPr>
              <a:t>Returns true if the stack is empty and false otherwise. </a:t>
            </a:r>
            <a:endParaRPr lang="en-US" altLang="en-US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38C92BF-7698-1091-881E-6A399C39DE1A}"/>
              </a:ext>
            </a:extLst>
          </p:cNvPr>
          <p:cNvCxnSpPr>
            <a:cxnSpLocks/>
          </p:cNvCxnSpPr>
          <p:nvPr/>
        </p:nvCxnSpPr>
        <p:spPr>
          <a:xfrm flipH="1" flipV="1">
            <a:off x="5137608" y="517444"/>
            <a:ext cx="1423448" cy="1684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3EB181E0-20BA-F216-207F-103E89BFA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8901" y="1536299"/>
            <a:ext cx="3917371" cy="120032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  <a:highlight>
                  <a:srgbClr val="FFFF00"/>
                </a:highlight>
                <a:latin typeface="Arial Unicode MS" panose="020B0604020202020204" pitchFamily="34" charset="-128"/>
              </a:rPr>
              <a:t> Removes the element at the top of the stack and returns a reference to it. Throws an </a:t>
            </a:r>
            <a:r>
              <a:rPr lang="en-GB" altLang="en-US" dirty="0" err="1">
                <a:solidFill>
                  <a:srgbClr val="000000"/>
                </a:solidFill>
                <a:highlight>
                  <a:srgbClr val="FFFF00"/>
                </a:highlight>
                <a:latin typeface="Arial Unicode MS" panose="020B0604020202020204" pitchFamily="34" charset="-128"/>
              </a:rPr>
              <a:t>EmptyStackException</a:t>
            </a:r>
            <a:r>
              <a:rPr lang="en-GB" altLang="en-US" dirty="0">
                <a:solidFill>
                  <a:srgbClr val="000000"/>
                </a:solidFill>
                <a:highlight>
                  <a:srgbClr val="FFFF00"/>
                </a:highlight>
                <a:latin typeface="Arial Unicode MS" panose="020B0604020202020204" pitchFamily="34" charset="-128"/>
              </a:rPr>
              <a:t> if the stack is empty.</a:t>
            </a:r>
            <a:endParaRPr lang="en-US" altLang="en-US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2F8AD50-94B0-745A-6960-C8558B6424E1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6096000" y="2127437"/>
            <a:ext cx="1852901" cy="902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B85C9483-FED3-549E-A238-793CB48E8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9468" y="4538537"/>
            <a:ext cx="3816013" cy="175432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  <a:highlight>
                  <a:srgbClr val="FFFF00"/>
                </a:highlight>
                <a:latin typeface="Arial Unicode MS" panose="020B0604020202020204" pitchFamily="34" charset="-128"/>
              </a:rPr>
              <a:t> Returns a reference to the element at the top of the stack.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  <a:highlight>
                  <a:srgbClr val="FFFF00"/>
                </a:highlight>
                <a:latin typeface="Arial Unicode MS" panose="020B0604020202020204" pitchFamily="34" charset="-128"/>
              </a:rPr>
              <a:t>The element is not removed from the stack.  Throws an </a:t>
            </a:r>
            <a:r>
              <a:rPr lang="en-GB" altLang="en-US" dirty="0" err="1">
                <a:solidFill>
                  <a:srgbClr val="000000"/>
                </a:solidFill>
                <a:highlight>
                  <a:srgbClr val="FFFF00"/>
                </a:highlight>
                <a:latin typeface="Arial Unicode MS" panose="020B0604020202020204" pitchFamily="34" charset="-128"/>
              </a:rPr>
              <a:t>EmptyStackException</a:t>
            </a:r>
            <a:r>
              <a:rPr lang="en-GB" altLang="en-US" dirty="0">
                <a:solidFill>
                  <a:srgbClr val="000000"/>
                </a:solidFill>
                <a:highlight>
                  <a:srgbClr val="FFFF00"/>
                </a:highlight>
                <a:latin typeface="Arial Unicode MS" panose="020B0604020202020204" pitchFamily="34" charset="-128"/>
              </a:rPr>
              <a:t> if the stack is empty. </a:t>
            </a:r>
            <a:endParaRPr lang="en-US" altLang="en-US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7E0129-C6C5-D105-3029-53DC226F866B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6096001" y="5250732"/>
            <a:ext cx="2003467" cy="1649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218EB1B-1ED9-3DF3-DB91-C3A14D47C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76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53208"/>
          </a:xfrm>
        </p:spPr>
        <p:txBody>
          <a:bodyPr>
            <a:normAutofit/>
          </a:bodyPr>
          <a:lstStyle/>
          <a:p>
            <a:r>
              <a:rPr lang="en-US" sz="4000" b="1" dirty="0"/>
              <a:t>Defining an 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2" y="1556238"/>
            <a:ext cx="9872871" cy="45397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An </a:t>
            </a:r>
            <a:r>
              <a:rPr lang="en-US" sz="3200" dirty="0" err="1">
                <a:solidFill>
                  <a:schemeClr val="tx1"/>
                </a:solidFill>
                <a:latin typeface="Courier New"/>
                <a:cs typeface="Courier New"/>
              </a:rPr>
              <a:t>EmptyCollectionException</a:t>
            </a:r>
            <a:r>
              <a:rPr lang="en-US" sz="3200" dirty="0">
                <a:solidFill>
                  <a:schemeClr val="tx1"/>
                </a:solidFill>
                <a:cs typeface="Courier New"/>
              </a:rPr>
              <a:t> </a:t>
            </a:r>
            <a:r>
              <a:rPr lang="en-US" sz="3200" dirty="0">
                <a:solidFill>
                  <a:schemeClr val="tx1"/>
                </a:solidFill>
              </a:rPr>
              <a:t>is thrown when a pop or a peek is attempted and the stack is empty.</a:t>
            </a:r>
          </a:p>
          <a:p>
            <a:r>
              <a:rPr lang="en-US" sz="3200" dirty="0">
                <a:solidFill>
                  <a:schemeClr val="tx1"/>
                </a:solidFill>
              </a:rPr>
              <a:t>The </a:t>
            </a:r>
            <a:r>
              <a:rPr lang="en-US" sz="3200" dirty="0" err="1">
                <a:solidFill>
                  <a:schemeClr val="tx1"/>
                </a:solidFill>
                <a:latin typeface="Courier New"/>
                <a:cs typeface="Courier New"/>
              </a:rPr>
              <a:t>EmptyCollectionException</a:t>
            </a:r>
            <a:r>
              <a:rPr lang="en-US" sz="3200" dirty="0">
                <a:solidFill>
                  <a:schemeClr val="tx1"/>
                </a:solidFill>
                <a:cs typeface="Courier New"/>
              </a:rPr>
              <a:t> </a:t>
            </a:r>
            <a:r>
              <a:rPr lang="en-US" sz="3200" dirty="0">
                <a:solidFill>
                  <a:schemeClr val="tx1"/>
                </a:solidFill>
              </a:rPr>
              <a:t>is defined to extend </a:t>
            </a:r>
            <a:r>
              <a:rPr lang="en-US" sz="3200" dirty="0" err="1">
                <a:solidFill>
                  <a:schemeClr val="tx1"/>
                </a:solidFill>
                <a:latin typeface="Courier New"/>
                <a:cs typeface="Courier New"/>
              </a:rPr>
              <a:t>RuntimeException</a:t>
            </a:r>
            <a:r>
              <a:rPr lang="en-US" sz="3200" dirty="0">
                <a:solidFill>
                  <a:schemeClr val="tx1"/>
                </a:solidFill>
                <a:latin typeface="Courier New"/>
                <a:cs typeface="Courier New"/>
              </a:rPr>
              <a:t>.</a:t>
            </a:r>
          </a:p>
          <a:p>
            <a:r>
              <a:rPr lang="en-US" sz="3200" dirty="0">
                <a:solidFill>
                  <a:schemeClr val="tx1"/>
                </a:solidFill>
              </a:rPr>
              <a:t>By passing a string into its constructor, this exception can be used for other collections as well.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8923" y="274638"/>
            <a:ext cx="8694229" cy="6081712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endParaRPr lang="en-US" dirty="0">
              <a:latin typeface="Courier New"/>
              <a:cs typeface="Courier New"/>
            </a:endParaRPr>
          </a:p>
          <a:p>
            <a:pPr>
              <a:buNone/>
            </a:pPr>
            <a:r>
              <a:rPr lang="en-US" dirty="0">
                <a:solidFill>
                  <a:srgbClr val="3366FF"/>
                </a:solidFill>
                <a:latin typeface="Courier New"/>
                <a:cs typeface="Courier New"/>
              </a:rPr>
              <a:t>/**</a:t>
            </a:r>
          </a:p>
          <a:p>
            <a:pPr>
              <a:buNone/>
            </a:pPr>
            <a:r>
              <a:rPr lang="en-US" dirty="0">
                <a:solidFill>
                  <a:srgbClr val="3366FF"/>
                </a:solidFill>
                <a:latin typeface="Courier New"/>
                <a:cs typeface="Courier New"/>
              </a:rPr>
              <a:t> * Represents the situation in which a collection is empty.</a:t>
            </a:r>
          </a:p>
          <a:p>
            <a:pPr>
              <a:buNone/>
            </a:pPr>
            <a:r>
              <a:rPr lang="en-US" dirty="0">
                <a:solidFill>
                  <a:srgbClr val="3366FF"/>
                </a:solidFill>
                <a:latin typeface="Courier New"/>
                <a:cs typeface="Courier New"/>
              </a:rPr>
              <a:t> *</a:t>
            </a:r>
          </a:p>
          <a:p>
            <a:pPr>
              <a:buNone/>
            </a:pPr>
            <a:r>
              <a:rPr lang="en-US" dirty="0">
                <a:solidFill>
                  <a:srgbClr val="3366FF"/>
                </a:solidFill>
                <a:latin typeface="Courier New"/>
                <a:cs typeface="Courier New"/>
              </a:rPr>
              <a:t> * @author Lewis and Chase</a:t>
            </a:r>
          </a:p>
          <a:p>
            <a:pPr>
              <a:buNone/>
            </a:pPr>
            <a:r>
              <a:rPr lang="en-US" dirty="0">
                <a:solidFill>
                  <a:srgbClr val="3366FF"/>
                </a:solidFill>
                <a:latin typeface="Courier New"/>
                <a:cs typeface="Courier New"/>
              </a:rPr>
              <a:t> * @version 4.0</a:t>
            </a:r>
          </a:p>
          <a:p>
            <a:pPr>
              <a:buNone/>
            </a:pPr>
            <a:r>
              <a:rPr lang="en-US" dirty="0">
                <a:solidFill>
                  <a:srgbClr val="3366FF"/>
                </a:solidFill>
                <a:latin typeface="Courier New"/>
                <a:cs typeface="Courier New"/>
              </a:rPr>
              <a:t> */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Courier New"/>
                <a:cs typeface="Courier New"/>
              </a:rPr>
              <a:t>public class </a:t>
            </a:r>
            <a:r>
              <a:rPr lang="en-US" dirty="0" err="1">
                <a:solidFill>
                  <a:schemeClr val="tx1"/>
                </a:solidFill>
                <a:latin typeface="Courier New"/>
                <a:cs typeface="Courier New"/>
              </a:rPr>
              <a:t>EmptyCollectionException</a:t>
            </a:r>
            <a:r>
              <a:rPr lang="en-US" dirty="0">
                <a:solidFill>
                  <a:schemeClr val="tx1"/>
                </a:solidFill>
                <a:latin typeface="Courier New"/>
                <a:cs typeface="Courier New"/>
              </a:rPr>
              <a:t> extends </a:t>
            </a:r>
            <a:r>
              <a:rPr lang="en-US" dirty="0" err="1">
                <a:solidFill>
                  <a:schemeClr val="tx1"/>
                </a:solidFill>
                <a:latin typeface="Courier New"/>
                <a:cs typeface="Courier New"/>
              </a:rPr>
              <a:t>RuntimeException</a:t>
            </a:r>
            <a:endParaRPr lang="en-US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Courier New"/>
                <a:cs typeface="Courier New"/>
              </a:rPr>
              <a:t>{</a:t>
            </a:r>
          </a:p>
          <a:p>
            <a:pPr>
              <a:buNone/>
            </a:pPr>
            <a:r>
              <a:rPr lang="en-US" dirty="0">
                <a:latin typeface="Courier New"/>
                <a:cs typeface="Courier New"/>
              </a:rPr>
              <a:t>    </a:t>
            </a:r>
            <a:r>
              <a:rPr lang="en-US" dirty="0">
                <a:solidFill>
                  <a:srgbClr val="3366FF"/>
                </a:solidFill>
                <a:latin typeface="Courier New"/>
                <a:cs typeface="Courier New"/>
              </a:rPr>
              <a:t>/**</a:t>
            </a:r>
          </a:p>
          <a:p>
            <a:pPr>
              <a:buNone/>
            </a:pPr>
            <a:r>
              <a:rPr lang="en-US" dirty="0">
                <a:solidFill>
                  <a:srgbClr val="3366FF"/>
                </a:solidFill>
                <a:latin typeface="Courier New"/>
                <a:cs typeface="Courier New"/>
              </a:rPr>
              <a:t>     * Sets up this exception with an appropriate message.</a:t>
            </a:r>
          </a:p>
          <a:p>
            <a:pPr>
              <a:buNone/>
            </a:pPr>
            <a:r>
              <a:rPr lang="en-US" dirty="0">
                <a:solidFill>
                  <a:srgbClr val="3366FF"/>
                </a:solidFill>
                <a:latin typeface="Courier New"/>
                <a:cs typeface="Courier New"/>
              </a:rPr>
              <a:t>     * @</a:t>
            </a:r>
            <a:r>
              <a:rPr lang="en-US" dirty="0" err="1">
                <a:solidFill>
                  <a:srgbClr val="3366FF"/>
                </a:solidFill>
                <a:latin typeface="Courier New"/>
                <a:cs typeface="Courier New"/>
              </a:rPr>
              <a:t>param</a:t>
            </a:r>
            <a:r>
              <a:rPr lang="en-US" dirty="0">
                <a:solidFill>
                  <a:srgbClr val="3366FF"/>
                </a:solidFill>
                <a:latin typeface="Courier New"/>
                <a:cs typeface="Courier New"/>
              </a:rPr>
              <a:t> collection the name of the collection</a:t>
            </a:r>
          </a:p>
          <a:p>
            <a:pPr>
              <a:buNone/>
            </a:pPr>
            <a:r>
              <a:rPr lang="en-US" dirty="0">
                <a:solidFill>
                  <a:srgbClr val="3366FF"/>
                </a:solidFill>
                <a:latin typeface="Courier New"/>
                <a:cs typeface="Courier New"/>
              </a:rPr>
              <a:t>     */</a:t>
            </a:r>
          </a:p>
          <a:p>
            <a:pPr>
              <a:buNone/>
            </a:pPr>
            <a:r>
              <a:rPr lang="en-US" dirty="0">
                <a:latin typeface="Courier New"/>
                <a:cs typeface="Courier New"/>
              </a:rPr>
              <a:t>    </a:t>
            </a:r>
            <a:r>
              <a:rPr lang="en-US" dirty="0">
                <a:solidFill>
                  <a:schemeClr val="tx1"/>
                </a:solidFill>
                <a:latin typeface="Courier New"/>
                <a:cs typeface="Courier New"/>
              </a:rPr>
              <a:t>public </a:t>
            </a:r>
            <a:r>
              <a:rPr lang="en-US" dirty="0" err="1">
                <a:solidFill>
                  <a:schemeClr val="tx1"/>
                </a:solidFill>
                <a:latin typeface="Courier New"/>
                <a:cs typeface="Courier New"/>
              </a:rPr>
              <a:t>EmptyCollectionException(String</a:t>
            </a:r>
            <a:r>
              <a:rPr lang="en-US" dirty="0">
                <a:solidFill>
                  <a:schemeClr val="tx1"/>
                </a:solidFill>
                <a:latin typeface="Courier New"/>
                <a:cs typeface="Courier New"/>
              </a:rPr>
              <a:t> collection)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Courier New"/>
                <a:cs typeface="Courier New"/>
              </a:rPr>
              <a:t>    {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Courier New"/>
                <a:cs typeface="Courier New"/>
              </a:rPr>
              <a:t>        </a:t>
            </a:r>
            <a:r>
              <a:rPr lang="en-US" dirty="0" err="1">
                <a:solidFill>
                  <a:schemeClr val="tx1"/>
                </a:solidFill>
                <a:latin typeface="Courier New"/>
                <a:cs typeface="Courier New"/>
              </a:rPr>
              <a:t>super("The</a:t>
            </a:r>
            <a:r>
              <a:rPr lang="en-US" dirty="0">
                <a:solidFill>
                  <a:schemeClr val="tx1"/>
                </a:solidFill>
                <a:latin typeface="Courier New"/>
                <a:cs typeface="Courier New"/>
              </a:rPr>
              <a:t> " + collection + " is empty.");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Courier New"/>
                <a:cs typeface="Courier New"/>
              </a:rPr>
              <a:t>    }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Courier New"/>
                <a:cs typeface="Courier New"/>
              </a:rPr>
              <a:t>}</a:t>
            </a:r>
          </a:p>
          <a:p>
            <a:pPr>
              <a:buNone/>
            </a:pPr>
            <a:endParaRPr lang="en-US" dirty="0">
              <a:latin typeface="Courier New"/>
              <a:cs typeface="Courier New"/>
            </a:endParaRPr>
          </a:p>
          <a:p>
            <a:pPr>
              <a:buNone/>
            </a:pP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3 - </a:t>
            </a:r>
            <a:fld id="{90994C07-E970-A243-9601-A1D642E986EC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Java Software Structures, 4th Edition, Lewis/Chase </a:t>
            </a: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A843-A27F-90AF-0A52-65ECD36E6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Stack Animation – visit the links below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F83A3-193D-9984-DE01-6079DF5D2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https://yongdanielliang.github.io/animation/web/Stack.html</a:t>
            </a:r>
            <a:endParaRPr lang="en-GB" dirty="0"/>
          </a:p>
          <a:p>
            <a:r>
              <a:rPr lang="en-GB" dirty="0">
                <a:hlinkClick r:id="rId3"/>
              </a:rPr>
              <a:t>https://miro.medium.com/max/800/1*kkK3EZNOzBsuwkDNvSVR9g.gif</a:t>
            </a:r>
            <a:endParaRPr lang="en-GB" dirty="0"/>
          </a:p>
          <a:p>
            <a:r>
              <a:rPr lang="en-US" sz="2400" b="1" dirty="0">
                <a:hlinkClick r:id="rId4"/>
              </a:rPr>
              <a:t>https://www.cs.usfca.edu/~galles/visualization/QueueArray.html</a:t>
            </a:r>
            <a:endParaRPr lang="en-US" sz="2400" b="1" dirty="0"/>
          </a:p>
          <a:p>
            <a:r>
              <a:rPr lang="en-GB" sz="2400" dirty="0">
                <a:hlinkClick r:id="rId5"/>
              </a:rPr>
              <a:t>https://visualgo.net/en</a:t>
            </a:r>
            <a:r>
              <a:rPr lang="en-GB" sz="2400" dirty="0"/>
              <a:t> </a:t>
            </a:r>
          </a:p>
          <a:p>
            <a:r>
              <a:rPr lang="en-GB" sz="2400" dirty="0">
                <a:hlinkClick r:id="rId6"/>
              </a:rPr>
              <a:t>4.9. Dynamic Array-Based Stacks — Data Structures and Algorithms (chalmersgu-data-structure-courses.github.io)</a:t>
            </a:r>
            <a:endParaRPr lang="en-US" sz="2400" b="1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354B1-4B2D-7B98-B1E7-9BDB98EB8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75CB05-B9BA-38BD-341D-8912C9A7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3885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6E01-E19F-E15E-221E-850944C11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169" y="1097279"/>
            <a:ext cx="8724746" cy="3536365"/>
          </a:xfrm>
        </p:spPr>
        <p:txBody>
          <a:bodyPr/>
          <a:lstStyle/>
          <a:p>
            <a:pPr algn="ctr"/>
            <a:r>
              <a:rPr lang="en-US" sz="16600" dirty="0">
                <a:solidFill>
                  <a:srgbClr val="1CADE4"/>
                </a:solidFill>
                <a:latin typeface="Arial Black" panose="020B0A04020102020204" pitchFamily="34" charset="0"/>
              </a:rPr>
              <a:t>END</a:t>
            </a:r>
            <a:endParaRPr lang="en-GB" sz="1660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CDBADD-B050-7695-8142-4D03E333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shuuriye jr @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2A65F-5CFC-BCB7-EA09-B302F462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03922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Control xmlns="http://schemas.microsoft.com/VisualStudio/2011/storyboarding/control">
  <Id Name="System.Storyboarding.Annotation.CallOut" Revision="1" Stencil="System.Storyboarding.Annotation" StencilVersion="0.1"/>
</Control>
</file>

<file path=customXml/item2.xml><?xml version="1.0" encoding="utf-8"?>
<Control xmlns="http://schemas.microsoft.com/VisualStudio/2011/storyboarding/control">
  <Id Name="System.Storyboarding.Annotation.AnimatedBanner" Revision="1" Stencil="System.Storyboarding.Annotation" StencilVersion="0.1"/>
</Control>
</file>

<file path=customXml/item3.xml><?xml version="1.0" encoding="utf-8"?>
<Control xmlns="http://schemas.microsoft.com/VisualStudio/2011/storyboarding/control">
  <Id Name="fd7d7bed-114e-464c-a4f1-01a512005949" Revision="1" Stencil="System.MyShapes" StencilVersion="1.0"/>
</Control>
</file>

<file path=customXml/item4.xml><?xml version="1.0" encoding="utf-8"?>
<Control xmlns="http://schemas.microsoft.com/VisualStudio/2011/storyboarding/control">
  <Id Name="System.Storyboarding.Annotation.CallOut" Revision="1" Stencil="System.Storyboarding.Annotation" StencilVersion="0.1"/>
</Control>
</file>

<file path=customXml/item5.xml><?xml version="1.0" encoding="utf-8"?>
<Control xmlns="http://schemas.microsoft.com/VisualStudio/2011/storyboarding/control">
  <Id Name="fd7d7bed-114e-464c-a4f1-01a512005949" Revision="1" Stencil="System.MyShapes" StencilVersion="1.0"/>
</Control>
</file>

<file path=customXml/item6.xml><?xml version="1.0" encoding="utf-8"?>
<Control xmlns="http://schemas.microsoft.com/VisualStudio/2011/storyboarding/control">
  <Id Name="System.Storyboarding.Icons.CheckCircle" Revision="1" Stencil="System.Storyboarding.Icons" StencilVersion="0.1"/>
</Control>
</file>

<file path=customXml/itemProps1.xml><?xml version="1.0" encoding="utf-8"?>
<ds:datastoreItem xmlns:ds="http://schemas.openxmlformats.org/officeDocument/2006/customXml" ds:itemID="{BFFDA221-7B80-4D3F-82EA-66DBF8448BFC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34305CF1-882E-4661-B0F7-3EAC27845B49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8B284490-D91E-499D-A4D4-E81137CC2E54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48EFF4FD-0E7C-42B0-8171-C3592BB76164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D82A573E-3F86-406F-9689-B00DF68F7FE6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820CAAAA-9A49-413E-97E6-98E79D3E437A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6653</TotalTime>
  <Words>2485</Words>
  <Application>Microsoft Office PowerPoint</Application>
  <PresentationFormat>Widescreen</PresentationFormat>
  <Paragraphs>330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3" baseType="lpstr">
      <vt:lpstr>Adobe Fan Heiti Std B</vt:lpstr>
      <vt:lpstr>Arial Unicode MS</vt:lpstr>
      <vt:lpstr>Aharoni</vt:lpstr>
      <vt:lpstr>Arial</vt:lpstr>
      <vt:lpstr>Arial Black</vt:lpstr>
      <vt:lpstr>Calibri</vt:lpstr>
      <vt:lpstr>Corbel</vt:lpstr>
      <vt:lpstr>Corbel (Body)</vt:lpstr>
      <vt:lpstr>Courier New</vt:lpstr>
      <vt:lpstr>Basis</vt:lpstr>
      <vt:lpstr>PowerPoint Presentation</vt:lpstr>
      <vt:lpstr>Chapter Scope</vt:lpstr>
      <vt:lpstr>Collection</vt:lpstr>
      <vt:lpstr>Linear and Non-Linear Collections</vt:lpstr>
      <vt:lpstr>PowerPoint Presentation</vt:lpstr>
      <vt:lpstr>Linear and Non-Linear Collections</vt:lpstr>
      <vt:lpstr>Abstraction</vt:lpstr>
      <vt:lpstr>Abstract Data Type</vt:lpstr>
      <vt:lpstr>Collection Abstraction</vt:lpstr>
      <vt:lpstr>Java Collections API</vt:lpstr>
      <vt:lpstr>Stacks</vt:lpstr>
      <vt:lpstr>Stack</vt:lpstr>
      <vt:lpstr>Some Stacks Applications</vt:lpstr>
      <vt:lpstr>PowerPoint Presentation</vt:lpstr>
      <vt:lpstr>PowerPoint Presentation</vt:lpstr>
      <vt:lpstr>PowerPoint Presentation</vt:lpstr>
      <vt:lpstr>Stacks Applications</vt:lpstr>
      <vt:lpstr>PowerPoint Presentation</vt:lpstr>
      <vt:lpstr>Stack Operations</vt:lpstr>
      <vt:lpstr>PowerPoint Presentation</vt:lpstr>
      <vt:lpstr>Stacks (cont’d.)</vt:lpstr>
      <vt:lpstr>Object-Oriented Concepts</vt:lpstr>
      <vt:lpstr>Generics</vt:lpstr>
      <vt:lpstr>Generics</vt:lpstr>
      <vt:lpstr>Generics</vt:lpstr>
      <vt:lpstr>Generics</vt:lpstr>
      <vt:lpstr>Stacks-Example 1</vt:lpstr>
      <vt:lpstr>Stacks-Example 2</vt:lpstr>
      <vt:lpstr>Application: Reversing a String</vt:lpstr>
      <vt:lpstr>Reverse a String using stack</vt:lpstr>
      <vt:lpstr>Application: Reversing a String Solution:</vt:lpstr>
      <vt:lpstr>Application: Reversing a String Testing:</vt:lpstr>
      <vt:lpstr>Application: Reversing a String</vt:lpstr>
      <vt:lpstr>Application: Reversing a String A better Solution:</vt:lpstr>
      <vt:lpstr>Exceptions</vt:lpstr>
      <vt:lpstr>Exceptions</vt:lpstr>
      <vt:lpstr>Representation of Stack</vt:lpstr>
      <vt:lpstr>Implementing a Stack with an Array</vt:lpstr>
      <vt:lpstr>Implementing a Stack with an Array</vt:lpstr>
      <vt:lpstr>Implementing Stacks with an Array</vt:lpstr>
      <vt:lpstr>Managing Capacity</vt:lpstr>
      <vt:lpstr>Managing Capacity</vt:lpstr>
      <vt:lpstr>Implementing Stacks with an Array</vt:lpstr>
      <vt:lpstr>Implementing a Stack with an Array</vt:lpstr>
      <vt:lpstr>Pushing and Popping a Stack</vt:lpstr>
      <vt:lpstr>PowerPoint Presentation</vt:lpstr>
      <vt:lpstr>Creating an Array of a Generic Type</vt:lpstr>
      <vt:lpstr>PowerPoint Presentation</vt:lpstr>
      <vt:lpstr>PowerPoint Presentation</vt:lpstr>
      <vt:lpstr>Defining an Exception</vt:lpstr>
      <vt:lpstr>PowerPoint Presentation</vt:lpstr>
      <vt:lpstr>Stack Animation – visit the links below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Abdullahi</dc:creator>
  <cp:lastModifiedBy>Mohamed Abdullahi</cp:lastModifiedBy>
  <cp:revision>224</cp:revision>
  <dcterms:created xsi:type="dcterms:W3CDTF">2023-01-05T08:23:51Z</dcterms:created>
  <dcterms:modified xsi:type="dcterms:W3CDTF">2024-10-12T09:36:16Z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